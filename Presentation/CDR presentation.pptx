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7" r:id="rId2"/>
    <p:sldId id="258" r:id="rId3"/>
    <p:sldId id="259" r:id="rId4"/>
    <p:sldId id="260" r:id="rId5"/>
    <p:sldId id="261" r:id="rId6"/>
    <p:sldId id="262" r:id="rId7"/>
    <p:sldId id="263" r:id="rId8"/>
    <p:sldId id="264" r:id="rId9"/>
    <p:sldId id="265" r:id="rId10"/>
    <p:sldId id="266" r:id="rId11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5A623"/>
    <a:srgbClr val="008B8B"/>
    <a:srgbClr val="E74C3C"/>
    <a:srgbClr val="10253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4660"/>
  </p:normalViewPr>
  <p:slideViewPr>
    <p:cSldViewPr snapToGrid="0">
      <p:cViewPr varScale="1">
        <p:scale>
          <a:sx n="80" d="100"/>
          <a:sy n="80" d="100"/>
        </p:scale>
        <p:origin x="782" y="5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ableStyles" Target="tableStyle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17A3716-20EF-B2DE-3DFF-11351C3080DA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9142D81E-74E3-4BB1-9179-14499F5D273F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D0E4BEF-629F-1D53-5DAD-D3411750C67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FD0DD14-0874-40AC-98B6-A766FB069316}" type="datetimeFigureOut">
              <a:rPr lang="en-IN" smtClean="0"/>
              <a:t>23-02-2026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F8C54BD-4030-D092-F72C-2F35C61DAF2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8A05770-A6A3-449B-B985-5F5874CECBC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FC7B7AE-3266-4D7E-BDFA-153DA3095D38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41278068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80370D1-54DF-FF0E-9EA1-DF48EEB5E98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A51BF9B-97A4-5268-9213-6C71A500C6E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9ADBA03-DDA5-362F-27F7-D7AC0365181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FD0DD14-0874-40AC-98B6-A766FB069316}" type="datetimeFigureOut">
              <a:rPr lang="en-IN" smtClean="0"/>
              <a:t>23-02-2026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07DF3E9-B0D1-4644-09E0-D8DF7982BC8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8EF7DE3-B960-244E-1848-F0B2047CD6E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FC7B7AE-3266-4D7E-BDFA-153DA3095D38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76427680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C0EB4D0-0B32-8603-8045-A70BDB3B06A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27E55D3-1B34-B812-7D0D-E06C7EDD9D8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7C71381-7F56-910F-7E71-07D62976D82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FD0DD14-0874-40AC-98B6-A766FB069316}" type="datetimeFigureOut">
              <a:rPr lang="en-IN" smtClean="0"/>
              <a:t>23-02-2026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18659EE-5B31-5BD7-4740-56BC5F105A1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61CCF2D-8F56-7A9C-88F2-DC6D4D16DD8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FC7B7AE-3266-4D7E-BDFA-153DA3095D38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257800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86D38BD-3673-DE0E-1859-ECB5CF7238B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C271D5E-71C8-298F-F041-3932F3AF2C3F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FC0FAF15-4029-8E29-01B9-17BBBD9EDCE6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90624C24-29D5-59E7-93F8-1FE286FEC6E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FD0DD14-0874-40AC-98B6-A766FB069316}" type="datetimeFigureOut">
              <a:rPr lang="en-IN" smtClean="0"/>
              <a:t>23-02-2026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440EC94A-CB07-41CA-5D5D-650B6E61AD5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45A0BAEB-88C7-260B-1A60-8598B099FE0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FC7B7AE-3266-4D7E-BDFA-153DA3095D38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53417094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59D9BE7-4679-B303-FAD1-DEA9772BCD5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891BC58-512A-1944-751B-82D901D2380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A05B3193-C811-806B-1B3E-190ACAD40E6A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15FD39FD-CF8B-E0A4-AC7B-D43132D96C5A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02F2BE06-B21E-EC84-F174-D149B00D5585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6F8FCE4B-9AC7-46FD-5A29-6F215B6C7C8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FD0DD14-0874-40AC-98B6-A766FB069316}" type="datetimeFigureOut">
              <a:rPr lang="en-IN" smtClean="0"/>
              <a:t>23-02-2026</a:t>
            </a:fld>
            <a:endParaRPr lang="en-IN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7B2D19E0-E55D-B5DE-2768-C6FE8A4CA6A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504088B0-DB9E-3552-ADD8-F7B2137262C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FC7B7AE-3266-4D7E-BDFA-153DA3095D38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59538624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F6DBF0C-91A0-AD18-CF12-0CA84D2B7E3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6B27D573-52F2-E8E4-B4BD-0CD8C1B0EFC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FD0DD14-0874-40AC-98B6-A766FB069316}" type="datetimeFigureOut">
              <a:rPr lang="en-IN" smtClean="0"/>
              <a:t>23-02-2026</a:t>
            </a:fld>
            <a:endParaRPr lang="en-IN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8DB612FB-3403-B6E4-E0EB-30F0A2D1B7E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F245265E-C117-7F0B-E3F8-1BE090B3E4C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FC7B7AE-3266-4D7E-BDFA-153DA3095D38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89540786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2BCDE19A-947F-F2A4-9536-8C073098EFE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FD0DD14-0874-40AC-98B6-A766FB069316}" type="datetimeFigureOut">
              <a:rPr lang="en-IN" smtClean="0"/>
              <a:t>23-02-2026</a:t>
            </a:fld>
            <a:endParaRPr lang="en-IN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92B4ECED-5AB2-1AA6-3238-6B6F0444C99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95033A8-7D7D-A08B-7843-05467689FD5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FC7B7AE-3266-4D7E-BDFA-153DA3095D38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85097262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08E7007-627F-A669-7511-9C5B87EDF6D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7AABCAC-5DDF-1E29-54FF-D85A0D7D18E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A36CD915-E815-8FB5-0769-57408E748A1A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159B149D-1234-00DE-193E-DC32648BCF7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FD0DD14-0874-40AC-98B6-A766FB069316}" type="datetimeFigureOut">
              <a:rPr lang="en-IN" smtClean="0"/>
              <a:t>23-02-2026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16764DBD-1A6F-D806-55FB-1ABF12E8D3A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05D85E9D-71EF-58EF-6EFC-592074DD2F2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FC7B7AE-3266-4D7E-BDFA-153DA3095D38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3396004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15BD499-393C-ED02-731B-20EA909AC80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6E165255-7141-B1D3-8D3F-F8CDD8227A7F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BEED88D8-E131-43A0-813E-44DE81BFDFF2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0DEA455A-DF26-A532-2EF0-3BD30FB5DBF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FD0DD14-0874-40AC-98B6-A766FB069316}" type="datetimeFigureOut">
              <a:rPr lang="en-IN" smtClean="0"/>
              <a:t>23-02-2026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DE6CAE6B-8996-221B-701A-FE84BF470FF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4D84433E-8D67-2F31-4245-2B7A1219DCD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FC7B7AE-3266-4D7E-BDFA-153DA3095D38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22114303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2AD2E37-56F3-6EF3-0AA0-EAB8FF2FA4B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2C1F5E06-4556-1063-052C-24B6B4F93DE3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E033365-AF10-4779-EBE2-604ABC355C4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FD0DD14-0874-40AC-98B6-A766FB069316}" type="datetimeFigureOut">
              <a:rPr lang="en-IN" smtClean="0"/>
              <a:t>23-02-2026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56478C3-2835-800A-8292-76D4D547342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D9567B9-DF89-3C0A-D172-110A48121D6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FC7B7AE-3266-4D7E-BDFA-153DA3095D38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69588677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D01F8B65-A0D4-BCCE-7D65-A045035F60E8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E379C995-5127-8305-328A-AFDDD8E2DEE2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DD3CB3F-B2C5-ECFA-8A2A-64A7D247164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FD0DD14-0874-40AC-98B6-A766FB069316}" type="datetimeFigureOut">
              <a:rPr lang="en-IN" smtClean="0"/>
              <a:t>23-02-2026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D6E0E13-8DED-A4E6-059D-131C792994A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45E04CE-C26D-F238-0B66-9B98A5EC521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FC7B7AE-3266-4D7E-BDFA-153DA3095D38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89947776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C4D79C80-E476-01C4-BD6A-542233E0085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0F6B089-BCC2-036D-1DAD-6E841944465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A446189-1DB5-F666-0A51-9C0D8680E441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FFD0DD14-0874-40AC-98B6-A766FB069316}" type="datetimeFigureOut">
              <a:rPr lang="en-IN" smtClean="0"/>
              <a:t>23-02-2026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74549DB-E9F3-6CF1-F0E5-53A06698A18C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823F4A1-FE79-19C1-0465-EC72C1602BBE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FC7B7AE-3266-4D7E-BDFA-153DA3095D38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58607151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0253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1588" y="0"/>
            <a:ext cx="502920" cy="6858000"/>
          </a:xfrm>
          <a:prstGeom prst="rect">
            <a:avLst/>
          </a:prstGeom>
          <a:solidFill>
            <a:srgbClr val="061A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504508" y="0"/>
            <a:ext cx="64008" cy="6858000"/>
          </a:xfrm>
          <a:prstGeom prst="rect">
            <a:avLst/>
          </a:prstGeom>
          <a:solidFill>
            <a:srgbClr val="00C5C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824548" y="1097280"/>
            <a:ext cx="10515600" cy="3840480"/>
          </a:xfrm>
          <a:prstGeom prst="rect">
            <a:avLst/>
          </a:prstGeom>
          <a:solidFill>
            <a:srgbClr val="0D3B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ectangle 4"/>
          <p:cNvSpPr/>
          <p:nvPr/>
        </p:nvSpPr>
        <p:spPr>
          <a:xfrm>
            <a:off x="824548" y="1097280"/>
            <a:ext cx="64008" cy="3840480"/>
          </a:xfrm>
          <a:prstGeom prst="rect">
            <a:avLst/>
          </a:prstGeom>
          <a:solidFill>
            <a:srgbClr val="00C5C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1098868" y="1371600"/>
            <a:ext cx="1005840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5800" b="1">
                <a:solidFill>
                  <a:srgbClr val="FFFFFF"/>
                </a:solidFill>
              </a:rPr>
              <a:t>TELECOM CDR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98868" y="2331720"/>
            <a:ext cx="100584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4600" b="1">
                <a:solidFill>
                  <a:srgbClr val="00C5CD"/>
                </a:solidFill>
              </a:rPr>
              <a:t>ANALYTICS PLATFORM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98868" y="3246121"/>
            <a:ext cx="10058400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i="1">
                <a:solidFill>
                  <a:srgbClr val="A0B4C8"/>
                </a:solidFill>
              </a:rPr>
              <a:t>End-to-End Data Engineering Project  |  Wipro Assessment  |  2026</a:t>
            </a:r>
          </a:p>
        </p:txBody>
      </p:sp>
      <p:sp>
        <p:nvSpPr>
          <p:cNvPr id="9" name="Rectangle 8"/>
          <p:cNvSpPr/>
          <p:nvPr/>
        </p:nvSpPr>
        <p:spPr>
          <a:xfrm>
            <a:off x="1098868" y="4572000"/>
            <a:ext cx="2286000" cy="1005840"/>
          </a:xfrm>
          <a:prstGeom prst="rect">
            <a:avLst/>
          </a:prstGeom>
          <a:solidFill>
            <a:srgbClr val="061A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Rectangle 9"/>
          <p:cNvSpPr/>
          <p:nvPr/>
        </p:nvSpPr>
        <p:spPr>
          <a:xfrm>
            <a:off x="1098868" y="4572000"/>
            <a:ext cx="2286000" cy="45720"/>
          </a:xfrm>
          <a:prstGeom prst="rect">
            <a:avLst/>
          </a:prstGeom>
          <a:solidFill>
            <a:srgbClr val="00C5C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1098868" y="4663440"/>
            <a:ext cx="2286000" cy="55399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000" b="1">
                <a:solidFill>
                  <a:srgbClr val="F5A623"/>
                </a:solidFill>
              </a:rPr>
              <a:t>50,000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98868" y="5166360"/>
            <a:ext cx="2286000" cy="2616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>
                <a:solidFill>
                  <a:srgbClr val="A0B4C8"/>
                </a:solidFill>
              </a:rPr>
              <a:t>CDR Records</a:t>
            </a:r>
          </a:p>
        </p:txBody>
      </p:sp>
      <p:sp>
        <p:nvSpPr>
          <p:cNvPr id="13" name="Rectangle 12"/>
          <p:cNvSpPr/>
          <p:nvPr/>
        </p:nvSpPr>
        <p:spPr>
          <a:xfrm>
            <a:off x="3704908" y="4572000"/>
            <a:ext cx="2286000" cy="1005840"/>
          </a:xfrm>
          <a:prstGeom prst="rect">
            <a:avLst/>
          </a:prstGeom>
          <a:solidFill>
            <a:srgbClr val="061A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Rectangle 13"/>
          <p:cNvSpPr/>
          <p:nvPr/>
        </p:nvSpPr>
        <p:spPr>
          <a:xfrm>
            <a:off x="3704908" y="4572000"/>
            <a:ext cx="2286000" cy="45720"/>
          </a:xfrm>
          <a:prstGeom prst="rect">
            <a:avLst/>
          </a:prstGeom>
          <a:solidFill>
            <a:srgbClr val="00C5C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3704908" y="4663440"/>
            <a:ext cx="2286000" cy="55399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000" b="1">
                <a:solidFill>
                  <a:srgbClr val="F5A623"/>
                </a:solidFill>
              </a:rPr>
              <a:t>7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704908" y="5166360"/>
            <a:ext cx="2286000" cy="2616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>
                <a:solidFill>
                  <a:srgbClr val="A0B4C8"/>
                </a:solidFill>
              </a:rPr>
              <a:t>Notebooks</a:t>
            </a:r>
          </a:p>
        </p:txBody>
      </p:sp>
      <p:sp>
        <p:nvSpPr>
          <p:cNvPr id="17" name="Rectangle 16"/>
          <p:cNvSpPr/>
          <p:nvPr/>
        </p:nvSpPr>
        <p:spPr>
          <a:xfrm>
            <a:off x="6310948" y="4572000"/>
            <a:ext cx="2286000" cy="1005840"/>
          </a:xfrm>
          <a:prstGeom prst="rect">
            <a:avLst/>
          </a:prstGeom>
          <a:solidFill>
            <a:srgbClr val="061A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Rectangle 17"/>
          <p:cNvSpPr/>
          <p:nvPr/>
        </p:nvSpPr>
        <p:spPr>
          <a:xfrm>
            <a:off x="6310948" y="4572000"/>
            <a:ext cx="2286000" cy="45720"/>
          </a:xfrm>
          <a:prstGeom prst="rect">
            <a:avLst/>
          </a:prstGeom>
          <a:solidFill>
            <a:srgbClr val="00C5C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6310948" y="4663440"/>
            <a:ext cx="2286000" cy="55399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000" b="1">
                <a:solidFill>
                  <a:srgbClr val="F5A623"/>
                </a:solidFill>
              </a:rPr>
              <a:t>5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310948" y="5166360"/>
            <a:ext cx="2286000" cy="2616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>
                <a:solidFill>
                  <a:srgbClr val="A0B4C8"/>
                </a:solidFill>
              </a:rPr>
              <a:t>DWH Tables</a:t>
            </a:r>
          </a:p>
        </p:txBody>
      </p:sp>
      <p:sp>
        <p:nvSpPr>
          <p:cNvPr id="21" name="Rectangle 20"/>
          <p:cNvSpPr/>
          <p:nvPr/>
        </p:nvSpPr>
        <p:spPr>
          <a:xfrm>
            <a:off x="8916988" y="4572000"/>
            <a:ext cx="2286000" cy="1005840"/>
          </a:xfrm>
          <a:prstGeom prst="rect">
            <a:avLst/>
          </a:prstGeom>
          <a:solidFill>
            <a:srgbClr val="061A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Rectangle 21"/>
          <p:cNvSpPr/>
          <p:nvPr/>
        </p:nvSpPr>
        <p:spPr>
          <a:xfrm>
            <a:off x="8916988" y="4572000"/>
            <a:ext cx="2286000" cy="45720"/>
          </a:xfrm>
          <a:prstGeom prst="rect">
            <a:avLst/>
          </a:prstGeom>
          <a:solidFill>
            <a:srgbClr val="00C5C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8916988" y="4663440"/>
            <a:ext cx="2286000" cy="55399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000" b="1">
                <a:solidFill>
                  <a:srgbClr val="F5A623"/>
                </a:solidFill>
              </a:rPr>
              <a:t>3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916988" y="5166360"/>
            <a:ext cx="2286000" cy="2616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>
                <a:solidFill>
                  <a:srgbClr val="A0B4C8"/>
                </a:solidFill>
              </a:rPr>
              <a:t>Security Roles</a:t>
            </a:r>
          </a:p>
        </p:txBody>
      </p:sp>
      <p:sp>
        <p:nvSpPr>
          <p:cNvPr id="25" name="Rectangle 24"/>
          <p:cNvSpPr/>
          <p:nvPr/>
        </p:nvSpPr>
        <p:spPr>
          <a:xfrm>
            <a:off x="1588" y="6583680"/>
            <a:ext cx="12188952" cy="274320"/>
          </a:xfrm>
          <a:prstGeom prst="rect">
            <a:avLst/>
          </a:prstGeom>
          <a:solidFill>
            <a:srgbClr val="0A29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TextBox 25"/>
          <p:cNvSpPr txBox="1"/>
          <p:nvPr/>
        </p:nvSpPr>
        <p:spPr>
          <a:xfrm>
            <a:off x="458788" y="6601968"/>
            <a:ext cx="114300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>
                <a:solidFill>
                  <a:srgbClr val="A0B4C8"/>
                </a:solidFill>
              </a:rPr>
              <a:t>Chandan Sahoo  |  Wipro CDR Analytics Platform  |  February 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0253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1588" y="0"/>
            <a:ext cx="12188952" cy="1097280"/>
          </a:xfrm>
          <a:prstGeom prst="rect">
            <a:avLst/>
          </a:prstGeom>
          <a:solidFill>
            <a:srgbClr val="0A29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1588" y="1097280"/>
            <a:ext cx="12188952" cy="45720"/>
          </a:xfrm>
          <a:prstGeom prst="rect">
            <a:avLst/>
          </a:prstGeom>
          <a:solidFill>
            <a:srgbClr val="00C5C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458788" y="137160"/>
            <a:ext cx="10972800" cy="55399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>
                <a:solidFill>
                  <a:srgbClr val="FFFFFF"/>
                </a:solidFill>
              </a:rPr>
              <a:t>PROJECT OVERVIEW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8788" y="731521"/>
            <a:ext cx="10972800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i="1">
                <a:solidFill>
                  <a:srgbClr val="A0B4C8"/>
                </a:solidFill>
              </a:rPr>
              <a:t>Telecom CDR Analytics Platform — Wipro Assessment</a:t>
            </a:r>
          </a:p>
        </p:txBody>
      </p:sp>
      <p:sp>
        <p:nvSpPr>
          <p:cNvPr id="6" name="Rectangle 5"/>
          <p:cNvSpPr/>
          <p:nvPr/>
        </p:nvSpPr>
        <p:spPr>
          <a:xfrm>
            <a:off x="367348" y="1325880"/>
            <a:ext cx="3657600" cy="384048"/>
          </a:xfrm>
          <a:prstGeom prst="rect">
            <a:avLst/>
          </a:prstGeom>
          <a:solidFill>
            <a:srgbClr val="008B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504508" y="1353312"/>
            <a:ext cx="3383280" cy="2923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0A2942"/>
                </a:solidFill>
              </a:rPr>
              <a:t>OBJECTIVE</a:t>
            </a:r>
          </a:p>
        </p:txBody>
      </p:sp>
      <p:sp>
        <p:nvSpPr>
          <p:cNvPr id="8" name="Rectangle 7"/>
          <p:cNvSpPr/>
          <p:nvPr/>
        </p:nvSpPr>
        <p:spPr>
          <a:xfrm>
            <a:off x="367348" y="1709928"/>
            <a:ext cx="3657600" cy="4480560"/>
          </a:xfrm>
          <a:prstGeom prst="rect">
            <a:avLst/>
          </a:prstGeom>
          <a:solidFill>
            <a:srgbClr val="0A29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504508" y="1783081"/>
            <a:ext cx="3383280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>
                <a:solidFill>
                  <a:srgbClr val="F0F4F8"/>
                </a:solidFill>
              </a:rPr>
              <a:t>▸  Simulate real-world telecom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04508" y="2468881"/>
            <a:ext cx="3383280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>
                <a:solidFill>
                  <a:srgbClr val="F0F4F8"/>
                </a:solidFill>
              </a:rPr>
              <a:t>   CDR analytics system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04508" y="3154681"/>
            <a:ext cx="3383280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>
                <a:solidFill>
                  <a:srgbClr val="F0F4F8"/>
                </a:solidFill>
              </a:rPr>
              <a:t>▸  Process 50,000 Call Detail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04508" y="3840481"/>
            <a:ext cx="3383280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>
                <a:solidFill>
                  <a:srgbClr val="F0F4F8"/>
                </a:solidFill>
              </a:rPr>
              <a:t>   Records end-to-end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04508" y="4526281"/>
            <a:ext cx="3383280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>
                <a:solidFill>
                  <a:srgbClr val="F0F4F8"/>
                </a:solidFill>
              </a:rPr>
              <a:t>▸  Demonstrate full Data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04508" y="5212081"/>
            <a:ext cx="3383280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>
                <a:solidFill>
                  <a:srgbClr val="F0F4F8"/>
                </a:solidFill>
              </a:rPr>
              <a:t>   Engineering capability</a:t>
            </a:r>
          </a:p>
        </p:txBody>
      </p:sp>
      <p:sp>
        <p:nvSpPr>
          <p:cNvPr id="15" name="Rectangle 14"/>
          <p:cNvSpPr/>
          <p:nvPr/>
        </p:nvSpPr>
        <p:spPr>
          <a:xfrm>
            <a:off x="4299268" y="1325880"/>
            <a:ext cx="3657600" cy="384048"/>
          </a:xfrm>
          <a:prstGeom prst="rect">
            <a:avLst/>
          </a:prstGeom>
          <a:solidFill>
            <a:srgbClr val="F5A6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4436428" y="1353312"/>
            <a:ext cx="3383280" cy="2923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0A2942"/>
                </a:solidFill>
              </a:rPr>
              <a:t>TECH STACK</a:t>
            </a:r>
          </a:p>
        </p:txBody>
      </p:sp>
      <p:sp>
        <p:nvSpPr>
          <p:cNvPr id="17" name="Rectangle 16"/>
          <p:cNvSpPr/>
          <p:nvPr/>
        </p:nvSpPr>
        <p:spPr>
          <a:xfrm>
            <a:off x="4299268" y="1709928"/>
            <a:ext cx="3657600" cy="4480560"/>
          </a:xfrm>
          <a:prstGeom prst="rect">
            <a:avLst/>
          </a:prstGeom>
          <a:solidFill>
            <a:srgbClr val="0D3B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4436428" y="1783081"/>
            <a:ext cx="3383280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>
                <a:solidFill>
                  <a:srgbClr val="F0F4F8"/>
                </a:solidFill>
              </a:rPr>
              <a:t>▸  Python 3.12 + Pandas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436428" y="2468881"/>
            <a:ext cx="3383280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>
                <a:solidFill>
                  <a:srgbClr val="F0F4F8"/>
                </a:solidFill>
              </a:rPr>
              <a:t>▸  Apache PySpark 4.0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436428" y="3154681"/>
            <a:ext cx="3383280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>
                <a:solidFill>
                  <a:srgbClr val="F0F4F8"/>
                </a:solidFill>
              </a:rPr>
              <a:t>▸  Snowflake Cloud DWH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436428" y="3840481"/>
            <a:ext cx="3383280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>
                <a:solidFill>
                  <a:srgbClr val="F0F4F8"/>
                </a:solidFill>
              </a:rPr>
              <a:t>▸  Tableau Public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436428" y="4526281"/>
            <a:ext cx="3383280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>
                <a:solidFill>
                  <a:srgbClr val="F0F4F8"/>
                </a:solidFill>
              </a:rPr>
              <a:t>▸  Google Colab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436428" y="5212081"/>
            <a:ext cx="3383280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>
                <a:solidFill>
                  <a:srgbClr val="F0F4F8"/>
                </a:solidFill>
              </a:rPr>
              <a:t>▸  Draw.io Architecture</a:t>
            </a:r>
          </a:p>
        </p:txBody>
      </p:sp>
      <p:sp>
        <p:nvSpPr>
          <p:cNvPr id="24" name="Rectangle 23"/>
          <p:cNvSpPr/>
          <p:nvPr/>
        </p:nvSpPr>
        <p:spPr>
          <a:xfrm>
            <a:off x="8231188" y="1325880"/>
            <a:ext cx="3657600" cy="384048"/>
          </a:xfrm>
          <a:prstGeom prst="rect">
            <a:avLst/>
          </a:prstGeom>
          <a:solidFill>
            <a:srgbClr val="27AE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TextBox 24"/>
          <p:cNvSpPr txBox="1"/>
          <p:nvPr/>
        </p:nvSpPr>
        <p:spPr>
          <a:xfrm>
            <a:off x="8368348" y="1353312"/>
            <a:ext cx="3383280" cy="2923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0A2942"/>
                </a:solidFill>
              </a:rPr>
              <a:t>DELIVERABLES</a:t>
            </a:r>
          </a:p>
        </p:txBody>
      </p:sp>
      <p:sp>
        <p:nvSpPr>
          <p:cNvPr id="26" name="Rectangle 25"/>
          <p:cNvSpPr/>
          <p:nvPr/>
        </p:nvSpPr>
        <p:spPr>
          <a:xfrm>
            <a:off x="8231188" y="1709928"/>
            <a:ext cx="3657600" cy="4480560"/>
          </a:xfrm>
          <a:prstGeom prst="rect">
            <a:avLst/>
          </a:prstGeom>
          <a:solidFill>
            <a:srgbClr val="0A29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TextBox 26"/>
          <p:cNvSpPr txBox="1"/>
          <p:nvPr/>
        </p:nvSpPr>
        <p:spPr>
          <a:xfrm>
            <a:off x="8368348" y="1783081"/>
            <a:ext cx="3383280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>
                <a:solidFill>
                  <a:srgbClr val="F0F4F8"/>
                </a:solidFill>
              </a:rPr>
              <a:t>▸  7 Colab Notebooks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8368348" y="2468881"/>
            <a:ext cx="3383280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>
                <a:solidFill>
                  <a:srgbClr val="F0F4F8"/>
                </a:solidFill>
              </a:rPr>
              <a:t>▸  SQL Scripts (8 sections)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8368348" y="3154681"/>
            <a:ext cx="3383280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>
                <a:solidFill>
                  <a:srgbClr val="F0F4F8"/>
                </a:solidFill>
              </a:rPr>
              <a:t>▸  Tableau Dashboard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8368348" y="3840481"/>
            <a:ext cx="3383280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>
                <a:solidFill>
                  <a:srgbClr val="F0F4F8"/>
                </a:solidFill>
              </a:rPr>
              <a:t>▸  Architecture Diagram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8368348" y="4526281"/>
            <a:ext cx="3383280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>
                <a:solidFill>
                  <a:srgbClr val="F0F4F8"/>
                </a:solidFill>
              </a:rPr>
              <a:t>▸  GitHub Repository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8368348" y="5212081"/>
            <a:ext cx="3383280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>
                <a:solidFill>
                  <a:srgbClr val="F0F4F8"/>
                </a:solidFill>
              </a:rPr>
              <a:t>▸  PPT Presentation</a:t>
            </a:r>
          </a:p>
        </p:txBody>
      </p:sp>
      <p:sp>
        <p:nvSpPr>
          <p:cNvPr id="33" name="Rectangle 32"/>
          <p:cNvSpPr/>
          <p:nvPr/>
        </p:nvSpPr>
        <p:spPr>
          <a:xfrm>
            <a:off x="1588" y="6583680"/>
            <a:ext cx="12188952" cy="274320"/>
          </a:xfrm>
          <a:prstGeom prst="rect">
            <a:avLst/>
          </a:prstGeom>
          <a:solidFill>
            <a:srgbClr val="0A29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4" name="TextBox 33"/>
          <p:cNvSpPr txBox="1"/>
          <p:nvPr/>
        </p:nvSpPr>
        <p:spPr>
          <a:xfrm>
            <a:off x="458788" y="6601968"/>
            <a:ext cx="114300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>
                <a:solidFill>
                  <a:srgbClr val="A0B4C8"/>
                </a:solidFill>
              </a:rPr>
              <a:t>Chandan Sahoo  |  Wipro CDR Analytics Platform  |  February 2026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0253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1588" y="0"/>
            <a:ext cx="12188952" cy="1097280"/>
          </a:xfrm>
          <a:prstGeom prst="rect">
            <a:avLst/>
          </a:prstGeom>
          <a:solidFill>
            <a:srgbClr val="0A29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1588" y="1097280"/>
            <a:ext cx="12188952" cy="45720"/>
          </a:xfrm>
          <a:prstGeom prst="rect">
            <a:avLst/>
          </a:prstGeom>
          <a:solidFill>
            <a:srgbClr val="00C5C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458788" y="137160"/>
            <a:ext cx="10972800" cy="55399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>
                <a:solidFill>
                  <a:srgbClr val="FFFFFF"/>
                </a:solidFill>
              </a:rPr>
              <a:t>SYSTEM ARCHITECTURE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8788" y="731521"/>
            <a:ext cx="10972800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i="1">
                <a:solidFill>
                  <a:srgbClr val="A0B4C8"/>
                </a:solidFill>
              </a:rPr>
              <a:t>Complete data flow from generation to dashboard</a:t>
            </a:r>
          </a:p>
        </p:txBody>
      </p:sp>
      <p:sp>
        <p:nvSpPr>
          <p:cNvPr id="6" name="Rectangle 5"/>
          <p:cNvSpPr/>
          <p:nvPr/>
        </p:nvSpPr>
        <p:spPr>
          <a:xfrm>
            <a:off x="367348" y="1965960"/>
            <a:ext cx="2011680" cy="365760"/>
          </a:xfrm>
          <a:prstGeom prst="rect">
            <a:avLst/>
          </a:prstGeom>
          <a:solidFill>
            <a:srgbClr val="F5A6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367348" y="1965960"/>
            <a:ext cx="2011680" cy="2308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>
                <a:solidFill>
                  <a:srgbClr val="0A2942"/>
                </a:solidFill>
              </a:rPr>
              <a:t>DATA SOURCE</a:t>
            </a:r>
          </a:p>
        </p:txBody>
      </p:sp>
      <p:sp>
        <p:nvSpPr>
          <p:cNvPr id="8" name="Rectangle 7"/>
          <p:cNvSpPr/>
          <p:nvPr/>
        </p:nvSpPr>
        <p:spPr>
          <a:xfrm>
            <a:off x="367348" y="2331720"/>
            <a:ext cx="2011680" cy="914400"/>
          </a:xfrm>
          <a:prstGeom prst="rect">
            <a:avLst/>
          </a:prstGeom>
          <a:solidFill>
            <a:srgbClr val="0D3B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367348" y="2359152"/>
            <a:ext cx="2011680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>
                <a:solidFill>
                  <a:srgbClr val="F0F4F8"/>
                </a:solidFill>
              </a:rPr>
              <a:t>Python Generator
50K Records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379028" y="2560320"/>
            <a:ext cx="3200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>
                <a:solidFill>
                  <a:srgbClr val="00C5CD"/>
                </a:solidFill>
              </a:rPr>
              <a:t>→</a:t>
            </a:r>
          </a:p>
        </p:txBody>
      </p:sp>
      <p:sp>
        <p:nvSpPr>
          <p:cNvPr id="11" name="Rectangle 10"/>
          <p:cNvSpPr/>
          <p:nvPr/>
        </p:nvSpPr>
        <p:spPr>
          <a:xfrm>
            <a:off x="2699067" y="1965960"/>
            <a:ext cx="2011680" cy="365760"/>
          </a:xfrm>
          <a:prstGeom prst="rect">
            <a:avLst/>
          </a:prstGeom>
          <a:solidFill>
            <a:srgbClr val="008B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2699067" y="1965960"/>
            <a:ext cx="2011680" cy="2308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>
                <a:solidFill>
                  <a:srgbClr val="0A2942"/>
                </a:solidFill>
              </a:rPr>
              <a:t>STAGING</a:t>
            </a:r>
          </a:p>
        </p:txBody>
      </p:sp>
      <p:sp>
        <p:nvSpPr>
          <p:cNvPr id="13" name="Rectangle 12"/>
          <p:cNvSpPr/>
          <p:nvPr/>
        </p:nvSpPr>
        <p:spPr>
          <a:xfrm>
            <a:off x="2699067" y="2331720"/>
            <a:ext cx="2011680" cy="914400"/>
          </a:xfrm>
          <a:prstGeom prst="rect">
            <a:avLst/>
          </a:prstGeom>
          <a:solidFill>
            <a:srgbClr val="0D3B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2699067" y="2359152"/>
            <a:ext cx="2011680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>
                <a:solidFill>
                  <a:srgbClr val="F0F4F8"/>
                </a:solidFill>
              </a:rPr>
              <a:t>Snowflake
STG_CDR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710748" y="2560320"/>
            <a:ext cx="3200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>
                <a:solidFill>
                  <a:srgbClr val="00C5CD"/>
                </a:solidFill>
              </a:rPr>
              <a:t>→</a:t>
            </a:r>
          </a:p>
        </p:txBody>
      </p:sp>
      <p:sp>
        <p:nvSpPr>
          <p:cNvPr id="16" name="Rectangle 15"/>
          <p:cNvSpPr/>
          <p:nvPr/>
        </p:nvSpPr>
        <p:spPr>
          <a:xfrm>
            <a:off x="5030788" y="1965960"/>
            <a:ext cx="2011680" cy="365760"/>
          </a:xfrm>
          <a:prstGeom prst="rect">
            <a:avLst/>
          </a:prstGeom>
          <a:solidFill>
            <a:srgbClr val="27AE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5030788" y="1965960"/>
            <a:ext cx="2011680" cy="2308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>
                <a:solidFill>
                  <a:srgbClr val="0A2942"/>
                </a:solidFill>
              </a:rPr>
              <a:t>ETL PIPELINE</a:t>
            </a:r>
          </a:p>
        </p:txBody>
      </p:sp>
      <p:sp>
        <p:nvSpPr>
          <p:cNvPr id="18" name="Rectangle 17"/>
          <p:cNvSpPr/>
          <p:nvPr/>
        </p:nvSpPr>
        <p:spPr>
          <a:xfrm>
            <a:off x="5030788" y="2331720"/>
            <a:ext cx="2011680" cy="914400"/>
          </a:xfrm>
          <a:prstGeom prst="rect">
            <a:avLst/>
          </a:prstGeom>
          <a:solidFill>
            <a:srgbClr val="0D3B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5030788" y="2359152"/>
            <a:ext cx="2011680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>
                <a:solidFill>
                  <a:srgbClr val="F0F4F8"/>
                </a:solidFill>
              </a:rPr>
              <a:t>Python ETL
0% Loss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042468" y="2560320"/>
            <a:ext cx="3200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>
                <a:solidFill>
                  <a:srgbClr val="00C5CD"/>
                </a:solidFill>
              </a:rPr>
              <a:t>→</a:t>
            </a:r>
          </a:p>
        </p:txBody>
      </p:sp>
      <p:sp>
        <p:nvSpPr>
          <p:cNvPr id="21" name="Rectangle 20"/>
          <p:cNvSpPr/>
          <p:nvPr/>
        </p:nvSpPr>
        <p:spPr>
          <a:xfrm>
            <a:off x="7362507" y="1965960"/>
            <a:ext cx="2011680" cy="365760"/>
          </a:xfrm>
          <a:prstGeom prst="rect">
            <a:avLst/>
          </a:prstGeom>
          <a:solidFill>
            <a:srgbClr val="00C5C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7362507" y="1965960"/>
            <a:ext cx="2011680" cy="2308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>
                <a:solidFill>
                  <a:srgbClr val="0A2942"/>
                </a:solidFill>
              </a:rPr>
              <a:t>DWH LAYER</a:t>
            </a:r>
          </a:p>
        </p:txBody>
      </p:sp>
      <p:sp>
        <p:nvSpPr>
          <p:cNvPr id="23" name="Rectangle 22"/>
          <p:cNvSpPr/>
          <p:nvPr/>
        </p:nvSpPr>
        <p:spPr>
          <a:xfrm>
            <a:off x="7362507" y="2331720"/>
            <a:ext cx="2011680" cy="914400"/>
          </a:xfrm>
          <a:prstGeom prst="rect">
            <a:avLst/>
          </a:prstGeom>
          <a:solidFill>
            <a:srgbClr val="0D3B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TextBox 23"/>
          <p:cNvSpPr txBox="1"/>
          <p:nvPr/>
        </p:nvSpPr>
        <p:spPr>
          <a:xfrm>
            <a:off x="7362507" y="2359152"/>
            <a:ext cx="2011680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>
                <a:solidFill>
                  <a:srgbClr val="F0F4F8"/>
                </a:solidFill>
              </a:rPr>
              <a:t>FACT_CDR
Star Schema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9374188" y="2560320"/>
            <a:ext cx="3200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>
                <a:solidFill>
                  <a:srgbClr val="00C5CD"/>
                </a:solidFill>
              </a:rPr>
              <a:t>→</a:t>
            </a:r>
          </a:p>
        </p:txBody>
      </p:sp>
      <p:sp>
        <p:nvSpPr>
          <p:cNvPr id="26" name="Rectangle 25"/>
          <p:cNvSpPr/>
          <p:nvPr/>
        </p:nvSpPr>
        <p:spPr>
          <a:xfrm>
            <a:off x="9694228" y="1965960"/>
            <a:ext cx="2011680" cy="365760"/>
          </a:xfrm>
          <a:prstGeom prst="rect">
            <a:avLst/>
          </a:prstGeom>
          <a:solidFill>
            <a:srgbClr val="F5A6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TextBox 26"/>
          <p:cNvSpPr txBox="1"/>
          <p:nvPr/>
        </p:nvSpPr>
        <p:spPr>
          <a:xfrm>
            <a:off x="9694228" y="1965960"/>
            <a:ext cx="2011680" cy="2308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>
                <a:solidFill>
                  <a:srgbClr val="0A2942"/>
                </a:solidFill>
              </a:rPr>
              <a:t>ANALYTICS</a:t>
            </a:r>
          </a:p>
        </p:txBody>
      </p:sp>
      <p:sp>
        <p:nvSpPr>
          <p:cNvPr id="28" name="Rectangle 27"/>
          <p:cNvSpPr/>
          <p:nvPr/>
        </p:nvSpPr>
        <p:spPr>
          <a:xfrm>
            <a:off x="9694228" y="2331720"/>
            <a:ext cx="2011680" cy="914400"/>
          </a:xfrm>
          <a:prstGeom prst="rect">
            <a:avLst/>
          </a:prstGeom>
          <a:solidFill>
            <a:srgbClr val="0D3B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TextBox 28"/>
          <p:cNvSpPr txBox="1"/>
          <p:nvPr/>
        </p:nvSpPr>
        <p:spPr>
          <a:xfrm>
            <a:off x="9694228" y="2359152"/>
            <a:ext cx="2011680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>
                <a:solidFill>
                  <a:srgbClr val="F0F4F8"/>
                </a:solidFill>
              </a:rPr>
              <a:t>Views +
Dashboard</a:t>
            </a:r>
          </a:p>
        </p:txBody>
      </p:sp>
      <p:sp>
        <p:nvSpPr>
          <p:cNvPr id="30" name="Rectangle 29"/>
          <p:cNvSpPr/>
          <p:nvPr/>
        </p:nvSpPr>
        <p:spPr>
          <a:xfrm>
            <a:off x="367348" y="3566160"/>
            <a:ext cx="2651760" cy="365760"/>
          </a:xfrm>
          <a:prstGeom prst="rect">
            <a:avLst/>
          </a:prstGeom>
          <a:solidFill>
            <a:srgbClr val="8E44A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1" name="TextBox 30"/>
          <p:cNvSpPr txBox="1"/>
          <p:nvPr/>
        </p:nvSpPr>
        <p:spPr>
          <a:xfrm>
            <a:off x="367348" y="3566161"/>
            <a:ext cx="2651760" cy="24622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>
                <a:solidFill>
                  <a:srgbClr val="FFFFFF"/>
                </a:solidFill>
              </a:rPr>
              <a:t>⚡ APACHE SPARK</a:t>
            </a:r>
          </a:p>
        </p:txBody>
      </p:sp>
      <p:sp>
        <p:nvSpPr>
          <p:cNvPr id="32" name="Rectangle 31"/>
          <p:cNvSpPr/>
          <p:nvPr/>
        </p:nvSpPr>
        <p:spPr>
          <a:xfrm>
            <a:off x="367348" y="3931920"/>
            <a:ext cx="2651760" cy="1097280"/>
          </a:xfrm>
          <a:prstGeom prst="rect">
            <a:avLst/>
          </a:prstGeom>
          <a:solidFill>
            <a:srgbClr val="0D3B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3" name="TextBox 32"/>
          <p:cNvSpPr txBox="1"/>
          <p:nvPr/>
        </p:nvSpPr>
        <p:spPr>
          <a:xfrm>
            <a:off x="458788" y="3977640"/>
            <a:ext cx="2468880" cy="55399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>
                <a:solidFill>
                  <a:srgbClr val="F0F4F8"/>
                </a:solidFill>
              </a:rPr>
              <a:t>Batch Processing
Real-time Streaming
PySpark 4.0</a:t>
            </a:r>
          </a:p>
        </p:txBody>
      </p:sp>
      <p:sp>
        <p:nvSpPr>
          <p:cNvPr id="34" name="Rectangle 33"/>
          <p:cNvSpPr/>
          <p:nvPr/>
        </p:nvSpPr>
        <p:spPr>
          <a:xfrm>
            <a:off x="3293428" y="3566160"/>
            <a:ext cx="2651760" cy="365760"/>
          </a:xfrm>
          <a:prstGeom prst="rect">
            <a:avLst/>
          </a:prstGeom>
          <a:solidFill>
            <a:srgbClr val="008B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5" name="TextBox 34"/>
          <p:cNvSpPr txBox="1"/>
          <p:nvPr/>
        </p:nvSpPr>
        <p:spPr>
          <a:xfrm>
            <a:off x="3293428" y="3566161"/>
            <a:ext cx="2651760" cy="24622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>
                <a:solidFill>
                  <a:srgbClr val="FFFFFF"/>
                </a:solidFill>
              </a:rPr>
              <a:t>❄️ OPTIMIZATION</a:t>
            </a:r>
          </a:p>
        </p:txBody>
      </p:sp>
      <p:sp>
        <p:nvSpPr>
          <p:cNvPr id="36" name="Rectangle 35"/>
          <p:cNvSpPr/>
          <p:nvPr/>
        </p:nvSpPr>
        <p:spPr>
          <a:xfrm>
            <a:off x="3293428" y="3931920"/>
            <a:ext cx="2651760" cy="1097280"/>
          </a:xfrm>
          <a:prstGeom prst="rect">
            <a:avLst/>
          </a:prstGeom>
          <a:solidFill>
            <a:srgbClr val="0D3B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7" name="TextBox 36"/>
          <p:cNvSpPr txBox="1"/>
          <p:nvPr/>
        </p:nvSpPr>
        <p:spPr>
          <a:xfrm>
            <a:off x="3384868" y="3977640"/>
            <a:ext cx="2468880" cy="55399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>
                <a:solidFill>
                  <a:srgbClr val="F0F4F8"/>
                </a:solidFill>
              </a:rPr>
              <a:t>Clustering Keys
Time Travel 7 Days
JSON VARIANT</a:t>
            </a:r>
          </a:p>
        </p:txBody>
      </p:sp>
      <p:sp>
        <p:nvSpPr>
          <p:cNvPr id="38" name="Rectangle 37"/>
          <p:cNvSpPr/>
          <p:nvPr/>
        </p:nvSpPr>
        <p:spPr>
          <a:xfrm>
            <a:off x="6219508" y="3566160"/>
            <a:ext cx="2651760" cy="365760"/>
          </a:xfrm>
          <a:prstGeom prst="rect">
            <a:avLst/>
          </a:prstGeom>
          <a:solidFill>
            <a:srgbClr val="E74C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9" name="TextBox 38"/>
          <p:cNvSpPr txBox="1"/>
          <p:nvPr/>
        </p:nvSpPr>
        <p:spPr>
          <a:xfrm>
            <a:off x="6219508" y="3566161"/>
            <a:ext cx="2651760" cy="24622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>
                <a:solidFill>
                  <a:srgbClr val="FFFFFF"/>
                </a:solidFill>
              </a:rPr>
              <a:t>🔒 SECURITY</a:t>
            </a:r>
          </a:p>
        </p:txBody>
      </p:sp>
      <p:sp>
        <p:nvSpPr>
          <p:cNvPr id="40" name="Rectangle 39"/>
          <p:cNvSpPr/>
          <p:nvPr/>
        </p:nvSpPr>
        <p:spPr>
          <a:xfrm>
            <a:off x="6219508" y="3931920"/>
            <a:ext cx="2651760" cy="1097280"/>
          </a:xfrm>
          <a:prstGeom prst="rect">
            <a:avLst/>
          </a:prstGeom>
          <a:solidFill>
            <a:srgbClr val="0D3B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1" name="TextBox 40"/>
          <p:cNvSpPr txBox="1"/>
          <p:nvPr/>
        </p:nvSpPr>
        <p:spPr>
          <a:xfrm>
            <a:off x="6310948" y="3977640"/>
            <a:ext cx="2468880" cy="55399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>
                <a:solidFill>
                  <a:srgbClr val="F0F4F8"/>
                </a:solidFill>
              </a:rPr>
              <a:t>RBAC 3 Roles
Data Masking
Audit Logging</a:t>
            </a:r>
          </a:p>
        </p:txBody>
      </p:sp>
      <p:sp>
        <p:nvSpPr>
          <p:cNvPr id="42" name="Rectangle 41"/>
          <p:cNvSpPr/>
          <p:nvPr/>
        </p:nvSpPr>
        <p:spPr>
          <a:xfrm>
            <a:off x="9145588" y="3566160"/>
            <a:ext cx="2651760" cy="365760"/>
          </a:xfrm>
          <a:prstGeom prst="rect">
            <a:avLst/>
          </a:prstGeom>
          <a:solidFill>
            <a:srgbClr val="27AE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3" name="TextBox 42"/>
          <p:cNvSpPr txBox="1"/>
          <p:nvPr/>
        </p:nvSpPr>
        <p:spPr>
          <a:xfrm>
            <a:off x="9145588" y="3566161"/>
            <a:ext cx="2651760" cy="24622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>
                <a:solidFill>
                  <a:srgbClr val="FFFFFF"/>
                </a:solidFill>
              </a:rPr>
              <a:t>🚀 PERFORMANCE</a:t>
            </a:r>
          </a:p>
        </p:txBody>
      </p:sp>
      <p:sp>
        <p:nvSpPr>
          <p:cNvPr id="44" name="Rectangle 43"/>
          <p:cNvSpPr/>
          <p:nvPr/>
        </p:nvSpPr>
        <p:spPr>
          <a:xfrm>
            <a:off x="9145588" y="3931920"/>
            <a:ext cx="2651760" cy="1097280"/>
          </a:xfrm>
          <a:prstGeom prst="rect">
            <a:avLst/>
          </a:prstGeom>
          <a:solidFill>
            <a:srgbClr val="0D3B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5" name="TextBox 44"/>
          <p:cNvSpPr txBox="1"/>
          <p:nvPr/>
        </p:nvSpPr>
        <p:spPr>
          <a:xfrm>
            <a:off x="9237028" y="3977640"/>
            <a:ext cx="2468880" cy="55399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>
                <a:solidFill>
                  <a:srgbClr val="F0F4F8"/>
                </a:solidFill>
              </a:rPr>
              <a:t>3 Secure Views
Advanced SQL
Window Functions</a:t>
            </a:r>
          </a:p>
        </p:txBody>
      </p:sp>
      <p:sp>
        <p:nvSpPr>
          <p:cNvPr id="46" name="Rectangle 45"/>
          <p:cNvSpPr/>
          <p:nvPr/>
        </p:nvSpPr>
        <p:spPr>
          <a:xfrm>
            <a:off x="367348" y="5303520"/>
            <a:ext cx="11430000" cy="411480"/>
          </a:xfrm>
          <a:prstGeom prst="rect">
            <a:avLst/>
          </a:prstGeom>
          <a:solidFill>
            <a:srgbClr val="061A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7" name="TextBox 46"/>
          <p:cNvSpPr txBox="1"/>
          <p:nvPr/>
        </p:nvSpPr>
        <p:spPr>
          <a:xfrm>
            <a:off x="367348" y="5303521"/>
            <a:ext cx="11430000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dirty="0">
                <a:solidFill>
                  <a:srgbClr val="00C5CD"/>
                </a:solidFill>
              </a:rPr>
              <a:t>🔗  GitHub: github.com/</a:t>
            </a:r>
            <a:r>
              <a:rPr sz="1200" b="1" dirty="0" err="1">
                <a:solidFill>
                  <a:srgbClr val="00C5CD"/>
                </a:solidFill>
              </a:rPr>
              <a:t>Chandansahoo</a:t>
            </a:r>
            <a:r>
              <a:rPr sz="1200" b="1" dirty="0">
                <a:solidFill>
                  <a:srgbClr val="00C5CD"/>
                </a:solidFill>
              </a:rPr>
              <a:t>/telecom-</a:t>
            </a:r>
            <a:r>
              <a:rPr sz="1200" b="1" dirty="0" err="1">
                <a:solidFill>
                  <a:srgbClr val="00C5CD"/>
                </a:solidFill>
              </a:rPr>
              <a:t>cdr</a:t>
            </a:r>
            <a:r>
              <a:rPr sz="1200" b="1" dirty="0">
                <a:solidFill>
                  <a:srgbClr val="00C5CD"/>
                </a:solidFill>
              </a:rPr>
              <a:t>-analytics-platform</a:t>
            </a:r>
          </a:p>
        </p:txBody>
      </p:sp>
      <p:sp>
        <p:nvSpPr>
          <p:cNvPr id="48" name="Rectangle 47"/>
          <p:cNvSpPr/>
          <p:nvPr/>
        </p:nvSpPr>
        <p:spPr>
          <a:xfrm>
            <a:off x="1588" y="6583680"/>
            <a:ext cx="12188952" cy="274320"/>
          </a:xfrm>
          <a:prstGeom prst="rect">
            <a:avLst/>
          </a:prstGeom>
          <a:solidFill>
            <a:srgbClr val="0A29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9" name="TextBox 48"/>
          <p:cNvSpPr txBox="1"/>
          <p:nvPr/>
        </p:nvSpPr>
        <p:spPr>
          <a:xfrm>
            <a:off x="458788" y="6601968"/>
            <a:ext cx="114300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>
                <a:solidFill>
                  <a:srgbClr val="A0B4C8"/>
                </a:solidFill>
              </a:rPr>
              <a:t>Chandan Sahoo  |  Wipro CDR Analytics Platform  |  February 2026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0253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" name="Rectangle 62">
            <a:extLst>
              <a:ext uri="{FF2B5EF4-FFF2-40B4-BE49-F238E27FC236}">
                <a16:creationId xmlns:a16="http://schemas.microsoft.com/office/drawing/2014/main" id="{431F7487-ABA2-97C1-7BDD-71E67909D4E1}"/>
              </a:ext>
            </a:extLst>
          </p:cNvPr>
          <p:cNvSpPr/>
          <p:nvPr/>
        </p:nvSpPr>
        <p:spPr>
          <a:xfrm>
            <a:off x="4485967" y="4446917"/>
            <a:ext cx="2912428" cy="1645919"/>
          </a:xfrm>
          <a:prstGeom prst="rect">
            <a:avLst/>
          </a:prstGeom>
          <a:solidFill>
            <a:srgbClr val="0D3B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" name="Rectangle 1"/>
          <p:cNvSpPr/>
          <p:nvPr/>
        </p:nvSpPr>
        <p:spPr>
          <a:xfrm>
            <a:off x="1588" y="0"/>
            <a:ext cx="12188952" cy="1097280"/>
          </a:xfrm>
          <a:prstGeom prst="rect">
            <a:avLst/>
          </a:prstGeom>
          <a:solidFill>
            <a:srgbClr val="0A29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1588" y="1097280"/>
            <a:ext cx="12188952" cy="45720"/>
          </a:xfrm>
          <a:prstGeom prst="rect">
            <a:avLst/>
          </a:prstGeom>
          <a:solidFill>
            <a:srgbClr val="00C5C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458788" y="137160"/>
            <a:ext cx="10972800" cy="55399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>
                <a:solidFill>
                  <a:srgbClr val="FFFFFF"/>
                </a:solidFill>
              </a:rPr>
              <a:t>DATA WAREHOUSE DESIGN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8788" y="731521"/>
            <a:ext cx="10972800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i="1">
                <a:solidFill>
                  <a:srgbClr val="A0B4C8"/>
                </a:solidFill>
              </a:rPr>
              <a:t>Snowflake Star Schema — TELECOM_DWH</a:t>
            </a:r>
          </a:p>
        </p:txBody>
      </p:sp>
      <p:sp>
        <p:nvSpPr>
          <p:cNvPr id="7" name="Rectangle 6"/>
          <p:cNvSpPr/>
          <p:nvPr/>
        </p:nvSpPr>
        <p:spPr>
          <a:xfrm>
            <a:off x="4485967" y="4105618"/>
            <a:ext cx="2912428" cy="341077"/>
          </a:xfrm>
          <a:prstGeom prst="rect">
            <a:avLst/>
          </a:prstGeom>
          <a:solidFill>
            <a:srgbClr val="00C5C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4485967" y="4471418"/>
            <a:ext cx="936180" cy="2308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dirty="0">
                <a:solidFill>
                  <a:srgbClr val="F0F4F8"/>
                </a:solidFill>
              </a:rPr>
              <a:t>CALL_ID  (PK)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25422" y="4667995"/>
            <a:ext cx="1416759" cy="2308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dirty="0">
                <a:solidFill>
                  <a:srgbClr val="F0F4F8"/>
                </a:solidFill>
              </a:rPr>
              <a:t>DATE_KEY  →  DIM_DATE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485967" y="4892162"/>
            <a:ext cx="1896428" cy="2308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dirty="0">
                <a:solidFill>
                  <a:srgbClr val="F0F4F8"/>
                </a:solidFill>
              </a:rPr>
              <a:t>CALLER_KEY  →  DIM_SUBSCRIBER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412815" y="5088739"/>
            <a:ext cx="1952308" cy="2308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dirty="0">
                <a:solidFill>
                  <a:srgbClr val="F0F4F8"/>
                </a:solidFill>
              </a:rPr>
              <a:t>CELL_KEY  →  DIM_CELL_TOWER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446133" y="5303636"/>
            <a:ext cx="2069148" cy="2308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dirty="0">
                <a:solidFill>
                  <a:srgbClr val="F0F4F8"/>
                </a:solidFill>
              </a:rPr>
              <a:t>CALL_TYPE_KEY  →  DIM_CALL_TYPE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399829" y="5505135"/>
            <a:ext cx="2023428" cy="2308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dirty="0">
                <a:solidFill>
                  <a:srgbClr val="F0F4F8"/>
                </a:solidFill>
              </a:rPr>
              <a:t>DURATION | CHARGE | IS_FRAUD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300427" y="5842908"/>
            <a:ext cx="1639094" cy="2308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dirty="0">
                <a:solidFill>
                  <a:srgbClr val="F5A623"/>
                </a:solidFill>
              </a:rPr>
              <a:t>50,000 Records</a:t>
            </a:r>
          </a:p>
        </p:txBody>
      </p:sp>
      <p:sp>
        <p:nvSpPr>
          <p:cNvPr id="16" name="Rectangle 15"/>
          <p:cNvSpPr/>
          <p:nvPr/>
        </p:nvSpPr>
        <p:spPr>
          <a:xfrm>
            <a:off x="574961" y="1398325"/>
            <a:ext cx="2834640" cy="347472"/>
          </a:xfrm>
          <a:prstGeom prst="rect">
            <a:avLst/>
          </a:prstGeom>
          <a:solidFill>
            <a:srgbClr val="F5A6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666401" y="1434901"/>
            <a:ext cx="2651760" cy="2616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>
                <a:solidFill>
                  <a:srgbClr val="0A2942"/>
                </a:solidFill>
              </a:rPr>
              <a:t>DIM_DATE</a:t>
            </a:r>
          </a:p>
        </p:txBody>
      </p:sp>
      <p:sp>
        <p:nvSpPr>
          <p:cNvPr id="18" name="Rectangle 17"/>
          <p:cNvSpPr/>
          <p:nvPr/>
        </p:nvSpPr>
        <p:spPr>
          <a:xfrm>
            <a:off x="574961" y="1745797"/>
            <a:ext cx="2834640" cy="1645919"/>
          </a:xfrm>
          <a:prstGeom prst="rect">
            <a:avLst/>
          </a:prstGeom>
          <a:solidFill>
            <a:srgbClr val="0D3B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684689" y="1782372"/>
            <a:ext cx="2651760" cy="2308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>
                <a:solidFill>
                  <a:srgbClr val="F0F4F8"/>
                </a:solidFill>
              </a:rPr>
              <a:t>DATE_KEY (PK)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84689" y="2056692"/>
            <a:ext cx="2651760" cy="2308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>
                <a:solidFill>
                  <a:srgbClr val="F0F4F8"/>
                </a:solidFill>
              </a:rPr>
              <a:t>FULL_DATE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84689" y="2331013"/>
            <a:ext cx="2651760" cy="2308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>
                <a:solidFill>
                  <a:srgbClr val="F0F4F8"/>
                </a:solidFill>
              </a:rPr>
              <a:t>MONTH_NAME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84689" y="2605333"/>
            <a:ext cx="2651760" cy="2308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>
                <a:solidFill>
                  <a:srgbClr val="F0F4F8"/>
                </a:solidFill>
              </a:rPr>
              <a:t>YEAR_NUM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84689" y="2879652"/>
            <a:ext cx="2651760" cy="2308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>
                <a:solidFill>
                  <a:srgbClr val="F0F4F8"/>
                </a:solidFill>
              </a:rPr>
              <a:t>IS_WEEKEND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84689" y="3153973"/>
            <a:ext cx="2651760" cy="2308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>
                <a:solidFill>
                  <a:srgbClr val="F5A623"/>
                </a:solidFill>
              </a:rPr>
              <a:t>366 Rows</a:t>
            </a:r>
          </a:p>
        </p:txBody>
      </p:sp>
      <p:sp>
        <p:nvSpPr>
          <p:cNvPr id="25" name="Rectangle 24"/>
          <p:cNvSpPr/>
          <p:nvPr/>
        </p:nvSpPr>
        <p:spPr>
          <a:xfrm>
            <a:off x="486092" y="4105618"/>
            <a:ext cx="2834640" cy="347472"/>
          </a:xfrm>
          <a:prstGeom prst="rect">
            <a:avLst/>
          </a:prstGeom>
          <a:solidFill>
            <a:srgbClr val="27AE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TextBox 25"/>
          <p:cNvSpPr txBox="1"/>
          <p:nvPr/>
        </p:nvSpPr>
        <p:spPr>
          <a:xfrm>
            <a:off x="577532" y="4142194"/>
            <a:ext cx="2651760" cy="2616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>
                <a:solidFill>
                  <a:srgbClr val="0A2942"/>
                </a:solidFill>
              </a:rPr>
              <a:t>DIM_SUBSCRIBER</a:t>
            </a:r>
          </a:p>
        </p:txBody>
      </p:sp>
      <p:sp>
        <p:nvSpPr>
          <p:cNvPr id="27" name="Rectangle 26"/>
          <p:cNvSpPr/>
          <p:nvPr/>
        </p:nvSpPr>
        <p:spPr>
          <a:xfrm>
            <a:off x="486092" y="4453091"/>
            <a:ext cx="2834640" cy="1645919"/>
          </a:xfrm>
          <a:prstGeom prst="rect">
            <a:avLst/>
          </a:prstGeom>
          <a:solidFill>
            <a:srgbClr val="0D3B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TextBox 27"/>
          <p:cNvSpPr txBox="1"/>
          <p:nvPr/>
        </p:nvSpPr>
        <p:spPr>
          <a:xfrm>
            <a:off x="595820" y="4489666"/>
            <a:ext cx="2651760" cy="2308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>
                <a:solidFill>
                  <a:srgbClr val="F0F4F8"/>
                </a:solidFill>
              </a:rPr>
              <a:t>SUBSCRIBER_KEY (PK)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595820" y="4763986"/>
            <a:ext cx="2651760" cy="2308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>
                <a:solidFill>
                  <a:srgbClr val="F0F4F8"/>
                </a:solidFill>
              </a:rPr>
              <a:t>MSISDN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595820" y="5038305"/>
            <a:ext cx="2651760" cy="2308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>
                <a:solidFill>
                  <a:srgbClr val="F0F4F8"/>
                </a:solidFill>
              </a:rPr>
              <a:t>PLAN_TYPE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595820" y="5312625"/>
            <a:ext cx="2651760" cy="2308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>
                <a:solidFill>
                  <a:srgbClr val="F0F4F8"/>
                </a:solidFill>
              </a:rPr>
              <a:t>CITY/STATE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595820" y="5586946"/>
            <a:ext cx="2651760" cy="2308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>
                <a:solidFill>
                  <a:srgbClr val="F0F4F8"/>
                </a:solidFill>
              </a:rPr>
              <a:t>SCD Type 2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595820" y="5861266"/>
            <a:ext cx="2651760" cy="2308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>
                <a:solidFill>
                  <a:srgbClr val="F5A623"/>
                </a:solidFill>
              </a:rPr>
              <a:t>500 Rows</a:t>
            </a:r>
          </a:p>
        </p:txBody>
      </p:sp>
      <p:sp>
        <p:nvSpPr>
          <p:cNvPr id="34" name="Rectangle 33"/>
          <p:cNvSpPr/>
          <p:nvPr/>
        </p:nvSpPr>
        <p:spPr>
          <a:xfrm>
            <a:off x="8589127" y="1398325"/>
            <a:ext cx="2834640" cy="347472"/>
          </a:xfrm>
          <a:prstGeom prst="rect">
            <a:avLst/>
          </a:prstGeom>
          <a:solidFill>
            <a:srgbClr val="008B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5" name="TextBox 34"/>
          <p:cNvSpPr txBox="1"/>
          <p:nvPr/>
        </p:nvSpPr>
        <p:spPr>
          <a:xfrm>
            <a:off x="8680567" y="1434901"/>
            <a:ext cx="2651760" cy="2616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>
                <a:solidFill>
                  <a:srgbClr val="0A2942"/>
                </a:solidFill>
              </a:rPr>
              <a:t>DIM_CELL_TOWER</a:t>
            </a:r>
          </a:p>
        </p:txBody>
      </p:sp>
      <p:sp>
        <p:nvSpPr>
          <p:cNvPr id="36" name="Rectangle 35"/>
          <p:cNvSpPr/>
          <p:nvPr/>
        </p:nvSpPr>
        <p:spPr>
          <a:xfrm>
            <a:off x="8589127" y="1745797"/>
            <a:ext cx="2834640" cy="1645919"/>
          </a:xfrm>
          <a:prstGeom prst="rect">
            <a:avLst/>
          </a:prstGeom>
          <a:solidFill>
            <a:srgbClr val="0D3B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7" name="TextBox 36"/>
          <p:cNvSpPr txBox="1"/>
          <p:nvPr/>
        </p:nvSpPr>
        <p:spPr>
          <a:xfrm>
            <a:off x="8698855" y="1782372"/>
            <a:ext cx="2651760" cy="2308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>
                <a:solidFill>
                  <a:srgbClr val="F0F4F8"/>
                </a:solidFill>
              </a:rPr>
              <a:t>CELL_KEY (PK)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8698855" y="2056692"/>
            <a:ext cx="2651760" cy="2308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>
                <a:solidFill>
                  <a:srgbClr val="F0F4F8"/>
                </a:solidFill>
              </a:rPr>
              <a:t>CELL_ID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8698855" y="2331013"/>
            <a:ext cx="2651760" cy="2308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>
                <a:solidFill>
                  <a:srgbClr val="F0F4F8"/>
                </a:solidFill>
              </a:rPr>
              <a:t>CELL_NAME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8698855" y="2605333"/>
            <a:ext cx="2651760" cy="2308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>
                <a:solidFill>
                  <a:srgbClr val="F0F4F8"/>
                </a:solidFill>
              </a:rPr>
              <a:t>LAT/LONG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8698855" y="2879652"/>
            <a:ext cx="2651760" cy="2308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>
                <a:solidFill>
                  <a:srgbClr val="F0F4F8"/>
                </a:solidFill>
              </a:rPr>
              <a:t>ZONE_KEY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8698855" y="3153973"/>
            <a:ext cx="2651760" cy="2308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>
                <a:solidFill>
                  <a:srgbClr val="F5A623"/>
                </a:solidFill>
              </a:rPr>
              <a:t>5 Rows</a:t>
            </a:r>
          </a:p>
        </p:txBody>
      </p:sp>
      <p:sp>
        <p:nvSpPr>
          <p:cNvPr id="43" name="Rectangle 42"/>
          <p:cNvSpPr/>
          <p:nvPr/>
        </p:nvSpPr>
        <p:spPr>
          <a:xfrm>
            <a:off x="8596948" y="4099445"/>
            <a:ext cx="2834640" cy="347472"/>
          </a:xfrm>
          <a:prstGeom prst="rect">
            <a:avLst/>
          </a:prstGeom>
          <a:solidFill>
            <a:srgbClr val="8E44A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4" name="TextBox 43"/>
          <p:cNvSpPr txBox="1"/>
          <p:nvPr/>
        </p:nvSpPr>
        <p:spPr>
          <a:xfrm>
            <a:off x="8688388" y="4136021"/>
            <a:ext cx="2651760" cy="2616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>
                <a:solidFill>
                  <a:srgbClr val="0A2942"/>
                </a:solidFill>
              </a:rPr>
              <a:t>DIM_CALL_TYPE</a:t>
            </a:r>
          </a:p>
        </p:txBody>
      </p:sp>
      <p:sp>
        <p:nvSpPr>
          <p:cNvPr id="45" name="Rectangle 44"/>
          <p:cNvSpPr/>
          <p:nvPr/>
        </p:nvSpPr>
        <p:spPr>
          <a:xfrm>
            <a:off x="8596948" y="4446918"/>
            <a:ext cx="2834640" cy="1645919"/>
          </a:xfrm>
          <a:prstGeom prst="rect">
            <a:avLst/>
          </a:prstGeom>
          <a:solidFill>
            <a:srgbClr val="0D3B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6" name="TextBox 45"/>
          <p:cNvSpPr txBox="1"/>
          <p:nvPr/>
        </p:nvSpPr>
        <p:spPr>
          <a:xfrm>
            <a:off x="8706676" y="4483493"/>
            <a:ext cx="2651760" cy="2308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>
                <a:solidFill>
                  <a:srgbClr val="F0F4F8"/>
                </a:solidFill>
              </a:rPr>
              <a:t>CALL_TYPE_KEY (PK)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8706676" y="4757813"/>
            <a:ext cx="2651760" cy="2308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>
                <a:solidFill>
                  <a:srgbClr val="F0F4F8"/>
                </a:solidFill>
              </a:rPr>
              <a:t>CALL_TYPE_CODE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8706676" y="5032132"/>
            <a:ext cx="2651760" cy="2308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>
                <a:solidFill>
                  <a:srgbClr val="F0F4F8"/>
                </a:solidFill>
              </a:rPr>
              <a:t>CALL_TYPE_NAME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8706676" y="5306452"/>
            <a:ext cx="2651760" cy="2308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>
                <a:solidFill>
                  <a:srgbClr val="F0F4F8"/>
                </a:solidFill>
              </a:rPr>
              <a:t>DESCRIPTION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8706676" y="5580773"/>
            <a:ext cx="265176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endParaRPr/>
          </a:p>
        </p:txBody>
      </p:sp>
      <p:sp>
        <p:nvSpPr>
          <p:cNvPr id="51" name="TextBox 50"/>
          <p:cNvSpPr txBox="1"/>
          <p:nvPr/>
        </p:nvSpPr>
        <p:spPr>
          <a:xfrm>
            <a:off x="8706676" y="5855093"/>
            <a:ext cx="2651760" cy="2308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>
                <a:solidFill>
                  <a:srgbClr val="F5A623"/>
                </a:solidFill>
              </a:rPr>
              <a:t>4 Rows</a:t>
            </a:r>
          </a:p>
        </p:txBody>
      </p:sp>
      <p:sp>
        <p:nvSpPr>
          <p:cNvPr id="52" name="Rectangle 51"/>
          <p:cNvSpPr/>
          <p:nvPr/>
        </p:nvSpPr>
        <p:spPr>
          <a:xfrm>
            <a:off x="4563756" y="1400967"/>
            <a:ext cx="2834640" cy="347472"/>
          </a:xfrm>
          <a:prstGeom prst="rect">
            <a:avLst/>
          </a:prstGeom>
          <a:solidFill>
            <a:srgbClr val="E74C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3" name="TextBox 52"/>
          <p:cNvSpPr txBox="1"/>
          <p:nvPr/>
        </p:nvSpPr>
        <p:spPr>
          <a:xfrm>
            <a:off x="4655195" y="1437543"/>
            <a:ext cx="2651760" cy="2616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>
                <a:solidFill>
                  <a:srgbClr val="0A2942"/>
                </a:solidFill>
              </a:rPr>
              <a:t>DIM_ZONE</a:t>
            </a:r>
          </a:p>
        </p:txBody>
      </p:sp>
      <p:sp>
        <p:nvSpPr>
          <p:cNvPr id="54" name="Rectangle 53"/>
          <p:cNvSpPr/>
          <p:nvPr/>
        </p:nvSpPr>
        <p:spPr>
          <a:xfrm>
            <a:off x="4563755" y="1732869"/>
            <a:ext cx="2834640" cy="1645919"/>
          </a:xfrm>
          <a:prstGeom prst="rect">
            <a:avLst/>
          </a:prstGeom>
          <a:solidFill>
            <a:srgbClr val="0D3B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dirty="0"/>
          </a:p>
        </p:txBody>
      </p:sp>
      <p:sp>
        <p:nvSpPr>
          <p:cNvPr id="55" name="TextBox 54"/>
          <p:cNvSpPr txBox="1"/>
          <p:nvPr/>
        </p:nvSpPr>
        <p:spPr>
          <a:xfrm>
            <a:off x="4673484" y="1785015"/>
            <a:ext cx="2651760" cy="2308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>
                <a:solidFill>
                  <a:srgbClr val="F0F4F8"/>
                </a:solidFill>
              </a:rPr>
              <a:t>ZONE_KEY (PK)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4673484" y="2059335"/>
            <a:ext cx="2651760" cy="2308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>
                <a:solidFill>
                  <a:srgbClr val="F0F4F8"/>
                </a:solidFill>
              </a:rPr>
              <a:t>ZONE_CODE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4673484" y="2333655"/>
            <a:ext cx="2651760" cy="2308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>
                <a:solidFill>
                  <a:srgbClr val="F0F4F8"/>
                </a:solidFill>
              </a:rPr>
              <a:t>ZONE_NAME</a:t>
            </a:r>
          </a:p>
        </p:txBody>
      </p:sp>
      <p:sp>
        <p:nvSpPr>
          <p:cNvPr id="58" name="TextBox 57"/>
          <p:cNvSpPr txBox="1"/>
          <p:nvPr/>
        </p:nvSpPr>
        <p:spPr>
          <a:xfrm>
            <a:off x="4673484" y="2607975"/>
            <a:ext cx="2651760" cy="2308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>
                <a:solidFill>
                  <a:srgbClr val="F0F4F8"/>
                </a:solidFill>
              </a:rPr>
              <a:t>REGION</a:t>
            </a:r>
          </a:p>
        </p:txBody>
      </p:sp>
      <p:sp>
        <p:nvSpPr>
          <p:cNvPr id="59" name="TextBox 58"/>
          <p:cNvSpPr txBox="1"/>
          <p:nvPr/>
        </p:nvSpPr>
        <p:spPr>
          <a:xfrm>
            <a:off x="4673484" y="2882295"/>
            <a:ext cx="265176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endParaRPr/>
          </a:p>
        </p:txBody>
      </p:sp>
      <p:sp>
        <p:nvSpPr>
          <p:cNvPr id="60" name="TextBox 59"/>
          <p:cNvSpPr txBox="1"/>
          <p:nvPr/>
        </p:nvSpPr>
        <p:spPr>
          <a:xfrm>
            <a:off x="4673484" y="3156615"/>
            <a:ext cx="2651760" cy="2308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>
                <a:solidFill>
                  <a:srgbClr val="F5A623"/>
                </a:solidFill>
              </a:rPr>
              <a:t>5 Rows</a:t>
            </a:r>
          </a:p>
        </p:txBody>
      </p:sp>
      <p:sp>
        <p:nvSpPr>
          <p:cNvPr id="61" name="Rectangle 60"/>
          <p:cNvSpPr/>
          <p:nvPr/>
        </p:nvSpPr>
        <p:spPr>
          <a:xfrm>
            <a:off x="1588" y="6583680"/>
            <a:ext cx="12188952" cy="274320"/>
          </a:xfrm>
          <a:prstGeom prst="rect">
            <a:avLst/>
          </a:prstGeom>
          <a:solidFill>
            <a:srgbClr val="0A29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2" name="TextBox 61"/>
          <p:cNvSpPr txBox="1"/>
          <p:nvPr/>
        </p:nvSpPr>
        <p:spPr>
          <a:xfrm>
            <a:off x="458788" y="6601968"/>
            <a:ext cx="114300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>
                <a:solidFill>
                  <a:srgbClr val="A0B4C8"/>
                </a:solidFill>
              </a:rPr>
              <a:t>Chandan Sahoo  |  Wipro CDR Analytics Platform  |  February 2026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119974" y="4092158"/>
            <a:ext cx="1741868" cy="3231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500" b="1" dirty="0">
                <a:solidFill>
                  <a:srgbClr val="10253F"/>
                </a:solidFill>
              </a:rPr>
              <a:t>FACT_CDR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0253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1588" y="0"/>
            <a:ext cx="12188952" cy="1097280"/>
          </a:xfrm>
          <a:prstGeom prst="rect">
            <a:avLst/>
          </a:prstGeom>
          <a:solidFill>
            <a:srgbClr val="0A29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1588" y="1097280"/>
            <a:ext cx="12188952" cy="45720"/>
          </a:xfrm>
          <a:prstGeom prst="rect">
            <a:avLst/>
          </a:prstGeom>
          <a:solidFill>
            <a:srgbClr val="00C5C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458788" y="137160"/>
            <a:ext cx="10972800" cy="55399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>
                <a:solidFill>
                  <a:srgbClr val="FFFFFF"/>
                </a:solidFill>
              </a:rPr>
              <a:t>ETL PIPELINE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8788" y="731521"/>
            <a:ext cx="10972800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i="1">
                <a:solidFill>
                  <a:srgbClr val="A0B4C8"/>
                </a:solidFill>
              </a:rPr>
              <a:t>STG_CDR  →  FACT_CDR  |  50,000 Records  |  0% Data Loss</a:t>
            </a:r>
          </a:p>
        </p:txBody>
      </p:sp>
      <p:sp>
        <p:nvSpPr>
          <p:cNvPr id="6" name="Rectangle 5"/>
          <p:cNvSpPr/>
          <p:nvPr/>
        </p:nvSpPr>
        <p:spPr>
          <a:xfrm>
            <a:off x="367348" y="1280160"/>
            <a:ext cx="2651760" cy="384048"/>
          </a:xfrm>
          <a:prstGeom prst="rect">
            <a:avLst/>
          </a:prstGeom>
          <a:solidFill>
            <a:srgbClr val="F5A6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504508" y="1307592"/>
            <a:ext cx="2468880" cy="2923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0A2942"/>
                </a:solidFill>
              </a:rPr>
              <a:t>1  EXTRACT</a:t>
            </a:r>
          </a:p>
        </p:txBody>
      </p:sp>
      <p:sp>
        <p:nvSpPr>
          <p:cNvPr id="8" name="Rectangle 7"/>
          <p:cNvSpPr/>
          <p:nvPr/>
        </p:nvSpPr>
        <p:spPr>
          <a:xfrm>
            <a:off x="367348" y="1664208"/>
            <a:ext cx="2651760" cy="1828800"/>
          </a:xfrm>
          <a:prstGeom prst="rect">
            <a:avLst/>
          </a:prstGeom>
          <a:solidFill>
            <a:srgbClr val="0D3B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504508" y="1737360"/>
            <a:ext cx="2377440" cy="2616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>
                <a:solidFill>
                  <a:srgbClr val="F0F4F8"/>
                </a:solidFill>
              </a:rPr>
              <a:t>▸  Read STG_CDR table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04508" y="2157984"/>
            <a:ext cx="2377440" cy="2616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>
                <a:solidFill>
                  <a:srgbClr val="F0F4F8"/>
                </a:solidFill>
              </a:rPr>
              <a:t>▸  50,000 raw records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04508" y="2578608"/>
            <a:ext cx="2377440" cy="2616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>
                <a:solidFill>
                  <a:srgbClr val="F0F4F8"/>
                </a:solidFill>
              </a:rPr>
              <a:t>▸  Pandas DataFrame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04508" y="2999232"/>
            <a:ext cx="2377440" cy="2616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>
                <a:solidFill>
                  <a:srgbClr val="F0F4F8"/>
                </a:solidFill>
              </a:rPr>
              <a:t>▸  All 14 columns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019108" y="2331720"/>
            <a:ext cx="274320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>
                <a:solidFill>
                  <a:srgbClr val="00C5CD"/>
                </a:solidFill>
              </a:rPr>
              <a:t>→</a:t>
            </a:r>
          </a:p>
        </p:txBody>
      </p:sp>
      <p:sp>
        <p:nvSpPr>
          <p:cNvPr id="14" name="Rectangle 13"/>
          <p:cNvSpPr/>
          <p:nvPr/>
        </p:nvSpPr>
        <p:spPr>
          <a:xfrm>
            <a:off x="3293428" y="1280160"/>
            <a:ext cx="2651760" cy="384048"/>
          </a:xfrm>
          <a:prstGeom prst="rect">
            <a:avLst/>
          </a:prstGeom>
          <a:solidFill>
            <a:srgbClr val="008B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3430588" y="1307592"/>
            <a:ext cx="2468880" cy="2923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0A2942"/>
                </a:solidFill>
              </a:rPr>
              <a:t>2  TRANSFORM</a:t>
            </a:r>
          </a:p>
        </p:txBody>
      </p:sp>
      <p:sp>
        <p:nvSpPr>
          <p:cNvPr id="16" name="Rectangle 15"/>
          <p:cNvSpPr/>
          <p:nvPr/>
        </p:nvSpPr>
        <p:spPr>
          <a:xfrm>
            <a:off x="3293428" y="1664208"/>
            <a:ext cx="2651760" cy="1828800"/>
          </a:xfrm>
          <a:prstGeom prst="rect">
            <a:avLst/>
          </a:prstGeom>
          <a:solidFill>
            <a:srgbClr val="0D3B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3430588" y="1737360"/>
            <a:ext cx="2377440" cy="2616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>
                <a:solidFill>
                  <a:srgbClr val="F0F4F8"/>
                </a:solidFill>
              </a:rPr>
              <a:t>▸  Load 4 dim tables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430588" y="2157984"/>
            <a:ext cx="2377440" cy="2616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>
                <a:solidFill>
                  <a:srgbClr val="F0F4F8"/>
                </a:solidFill>
              </a:rPr>
              <a:t>▸  Map surrogate keys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3430588" y="2578608"/>
            <a:ext cx="2377440" cy="2616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>
                <a:solidFill>
                  <a:srgbClr val="F0F4F8"/>
                </a:solidFill>
              </a:rPr>
              <a:t>▸  Validate all keys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3430588" y="2999232"/>
            <a:ext cx="2377440" cy="2616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>
                <a:solidFill>
                  <a:srgbClr val="F0F4F8"/>
                </a:solidFill>
              </a:rPr>
              <a:t>▸  0 records dropped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945188" y="2331720"/>
            <a:ext cx="274320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>
                <a:solidFill>
                  <a:srgbClr val="00C5CD"/>
                </a:solidFill>
              </a:rPr>
              <a:t>→</a:t>
            </a:r>
          </a:p>
        </p:txBody>
      </p:sp>
      <p:sp>
        <p:nvSpPr>
          <p:cNvPr id="22" name="Rectangle 21"/>
          <p:cNvSpPr/>
          <p:nvPr/>
        </p:nvSpPr>
        <p:spPr>
          <a:xfrm>
            <a:off x="6219508" y="1280160"/>
            <a:ext cx="2651760" cy="384048"/>
          </a:xfrm>
          <a:prstGeom prst="rect">
            <a:avLst/>
          </a:prstGeom>
          <a:solidFill>
            <a:srgbClr val="27AE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6356668" y="1307592"/>
            <a:ext cx="2468880" cy="2923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0A2942"/>
                </a:solidFill>
              </a:rPr>
              <a:t>3  LOAD</a:t>
            </a:r>
          </a:p>
        </p:txBody>
      </p:sp>
      <p:sp>
        <p:nvSpPr>
          <p:cNvPr id="24" name="Rectangle 23"/>
          <p:cNvSpPr/>
          <p:nvPr/>
        </p:nvSpPr>
        <p:spPr>
          <a:xfrm>
            <a:off x="6219508" y="1664208"/>
            <a:ext cx="2651760" cy="1828800"/>
          </a:xfrm>
          <a:prstGeom prst="rect">
            <a:avLst/>
          </a:prstGeom>
          <a:solidFill>
            <a:srgbClr val="0D3B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TextBox 24"/>
          <p:cNvSpPr txBox="1"/>
          <p:nvPr/>
        </p:nvSpPr>
        <p:spPr>
          <a:xfrm>
            <a:off x="6356668" y="1737360"/>
            <a:ext cx="2377440" cy="2616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>
                <a:solidFill>
                  <a:srgbClr val="F0F4F8"/>
                </a:solidFill>
              </a:rPr>
              <a:t>▸  Batch size: 5,000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356668" y="2157984"/>
            <a:ext cx="2377440" cy="2616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>
                <a:solidFill>
                  <a:srgbClr val="F0F4F8"/>
                </a:solidFill>
              </a:rPr>
              <a:t>▸  10 batches total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356668" y="2578608"/>
            <a:ext cx="2377440" cy="2616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>
                <a:solidFill>
                  <a:srgbClr val="F0F4F8"/>
                </a:solidFill>
              </a:rPr>
              <a:t>▸  executemany() insert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356668" y="2999232"/>
            <a:ext cx="2377440" cy="2616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>
                <a:solidFill>
                  <a:srgbClr val="F0F4F8"/>
                </a:solidFill>
              </a:rPr>
              <a:t>▸  52 seconds total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8871268" y="2331720"/>
            <a:ext cx="274320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>
                <a:solidFill>
                  <a:srgbClr val="00C5CD"/>
                </a:solidFill>
              </a:rPr>
              <a:t>→</a:t>
            </a:r>
          </a:p>
        </p:txBody>
      </p:sp>
      <p:sp>
        <p:nvSpPr>
          <p:cNvPr id="30" name="Rectangle 29"/>
          <p:cNvSpPr/>
          <p:nvPr/>
        </p:nvSpPr>
        <p:spPr>
          <a:xfrm>
            <a:off x="9145588" y="1280160"/>
            <a:ext cx="2651760" cy="384048"/>
          </a:xfrm>
          <a:prstGeom prst="rect">
            <a:avLst/>
          </a:prstGeom>
          <a:solidFill>
            <a:srgbClr val="00C5C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1" name="TextBox 30"/>
          <p:cNvSpPr txBox="1"/>
          <p:nvPr/>
        </p:nvSpPr>
        <p:spPr>
          <a:xfrm>
            <a:off x="9282748" y="1307592"/>
            <a:ext cx="2468880" cy="2923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0A2942"/>
                </a:solidFill>
              </a:rPr>
              <a:t>4  VALIDATE</a:t>
            </a:r>
          </a:p>
        </p:txBody>
      </p:sp>
      <p:sp>
        <p:nvSpPr>
          <p:cNvPr id="32" name="Rectangle 31"/>
          <p:cNvSpPr/>
          <p:nvPr/>
        </p:nvSpPr>
        <p:spPr>
          <a:xfrm>
            <a:off x="9145588" y="1664208"/>
            <a:ext cx="2651760" cy="1828800"/>
          </a:xfrm>
          <a:prstGeom prst="rect">
            <a:avLst/>
          </a:prstGeom>
          <a:solidFill>
            <a:srgbClr val="0D3B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3" name="TextBox 32"/>
          <p:cNvSpPr txBox="1"/>
          <p:nvPr/>
        </p:nvSpPr>
        <p:spPr>
          <a:xfrm>
            <a:off x="9282748" y="1737360"/>
            <a:ext cx="2377440" cy="2616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>
                <a:solidFill>
                  <a:srgbClr val="F0F4F8"/>
                </a:solidFill>
              </a:rPr>
              <a:t>▸  50,000 rows loaded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9282748" y="2157984"/>
            <a:ext cx="2377440" cy="2616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>
                <a:solidFill>
                  <a:srgbClr val="F0F4F8"/>
                </a:solidFill>
              </a:rPr>
              <a:t>▸  500 unique callers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9282748" y="2578608"/>
            <a:ext cx="2377440" cy="2616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>
                <a:solidFill>
                  <a:srgbClr val="F0F4F8"/>
                </a:solidFill>
              </a:rPr>
              <a:t>▸  ₹59,405 revenue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9282748" y="2999232"/>
            <a:ext cx="2377440" cy="2616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>
                <a:solidFill>
                  <a:srgbClr val="F0F4F8"/>
                </a:solidFill>
              </a:rPr>
              <a:t>▸  100% integrity</a:t>
            </a:r>
          </a:p>
        </p:txBody>
      </p:sp>
      <p:sp>
        <p:nvSpPr>
          <p:cNvPr id="37" name="Rectangle 36"/>
          <p:cNvSpPr/>
          <p:nvPr/>
        </p:nvSpPr>
        <p:spPr>
          <a:xfrm>
            <a:off x="367348" y="3794760"/>
            <a:ext cx="11430000" cy="347472"/>
          </a:xfrm>
          <a:prstGeom prst="rect">
            <a:avLst/>
          </a:prstGeom>
          <a:solidFill>
            <a:srgbClr val="061A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8" name="TextBox 37"/>
          <p:cNvSpPr txBox="1"/>
          <p:nvPr/>
        </p:nvSpPr>
        <p:spPr>
          <a:xfrm>
            <a:off x="367348" y="3794761"/>
            <a:ext cx="11430000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>
                <a:solidFill>
                  <a:srgbClr val="00C5CD"/>
                </a:solidFill>
              </a:rPr>
              <a:t>PIPELINE RESULTS</a:t>
            </a:r>
          </a:p>
        </p:txBody>
      </p:sp>
      <p:sp>
        <p:nvSpPr>
          <p:cNvPr id="39" name="Rectangle 38"/>
          <p:cNvSpPr/>
          <p:nvPr/>
        </p:nvSpPr>
        <p:spPr>
          <a:xfrm>
            <a:off x="367348" y="4160520"/>
            <a:ext cx="1783080" cy="1005840"/>
          </a:xfrm>
          <a:prstGeom prst="rect">
            <a:avLst/>
          </a:prstGeom>
          <a:solidFill>
            <a:srgbClr val="0D3B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0" name="Rectangle 39"/>
          <p:cNvSpPr/>
          <p:nvPr/>
        </p:nvSpPr>
        <p:spPr>
          <a:xfrm>
            <a:off x="367348" y="4160520"/>
            <a:ext cx="1783080" cy="36576"/>
          </a:xfrm>
          <a:prstGeom prst="rect">
            <a:avLst/>
          </a:prstGeom>
          <a:solidFill>
            <a:srgbClr val="F5A6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1" name="TextBox 40"/>
          <p:cNvSpPr txBox="1"/>
          <p:nvPr/>
        </p:nvSpPr>
        <p:spPr>
          <a:xfrm>
            <a:off x="367348" y="4224528"/>
            <a:ext cx="1783080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1">
                <a:solidFill>
                  <a:srgbClr val="F5A623"/>
                </a:solidFill>
              </a:rPr>
              <a:t>50,000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367348" y="4727449"/>
            <a:ext cx="1783080" cy="24622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>
                <a:solidFill>
                  <a:srgbClr val="A0B4C8"/>
                </a:solidFill>
              </a:rPr>
              <a:t>Extracted</a:t>
            </a:r>
          </a:p>
        </p:txBody>
      </p:sp>
      <p:sp>
        <p:nvSpPr>
          <p:cNvPr id="43" name="Rectangle 42"/>
          <p:cNvSpPr/>
          <p:nvPr/>
        </p:nvSpPr>
        <p:spPr>
          <a:xfrm>
            <a:off x="2287588" y="4160520"/>
            <a:ext cx="1783080" cy="1005840"/>
          </a:xfrm>
          <a:prstGeom prst="rect">
            <a:avLst/>
          </a:prstGeom>
          <a:solidFill>
            <a:srgbClr val="0D3B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4" name="Rectangle 43"/>
          <p:cNvSpPr/>
          <p:nvPr/>
        </p:nvSpPr>
        <p:spPr>
          <a:xfrm>
            <a:off x="2287588" y="4160520"/>
            <a:ext cx="1783080" cy="36576"/>
          </a:xfrm>
          <a:prstGeom prst="rect">
            <a:avLst/>
          </a:prstGeom>
          <a:solidFill>
            <a:srgbClr val="F5A6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5" name="TextBox 44"/>
          <p:cNvSpPr txBox="1"/>
          <p:nvPr/>
        </p:nvSpPr>
        <p:spPr>
          <a:xfrm>
            <a:off x="2287588" y="4224528"/>
            <a:ext cx="1783080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1">
                <a:solidFill>
                  <a:srgbClr val="F5A623"/>
                </a:solidFill>
              </a:rPr>
              <a:t>50,000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2287588" y="4727449"/>
            <a:ext cx="1783080" cy="24622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>
                <a:solidFill>
                  <a:srgbClr val="A0B4C8"/>
                </a:solidFill>
              </a:rPr>
              <a:t>Loaded</a:t>
            </a:r>
          </a:p>
        </p:txBody>
      </p:sp>
      <p:sp>
        <p:nvSpPr>
          <p:cNvPr id="47" name="Rectangle 46"/>
          <p:cNvSpPr/>
          <p:nvPr/>
        </p:nvSpPr>
        <p:spPr>
          <a:xfrm>
            <a:off x="4207828" y="4160520"/>
            <a:ext cx="1783080" cy="1005840"/>
          </a:xfrm>
          <a:prstGeom prst="rect">
            <a:avLst/>
          </a:prstGeom>
          <a:solidFill>
            <a:srgbClr val="0D3B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8" name="Rectangle 47"/>
          <p:cNvSpPr/>
          <p:nvPr/>
        </p:nvSpPr>
        <p:spPr>
          <a:xfrm>
            <a:off x="4207828" y="4160520"/>
            <a:ext cx="1783080" cy="36576"/>
          </a:xfrm>
          <a:prstGeom prst="rect">
            <a:avLst/>
          </a:prstGeom>
          <a:solidFill>
            <a:srgbClr val="F5A6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9" name="TextBox 48"/>
          <p:cNvSpPr txBox="1"/>
          <p:nvPr/>
        </p:nvSpPr>
        <p:spPr>
          <a:xfrm>
            <a:off x="4207828" y="4224528"/>
            <a:ext cx="1783080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1">
                <a:solidFill>
                  <a:srgbClr val="F5A623"/>
                </a:solidFill>
              </a:rPr>
              <a:t>0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4207828" y="4727449"/>
            <a:ext cx="1783080" cy="24622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>
                <a:solidFill>
                  <a:srgbClr val="A0B4C8"/>
                </a:solidFill>
              </a:rPr>
              <a:t>Dropped</a:t>
            </a:r>
          </a:p>
        </p:txBody>
      </p:sp>
      <p:sp>
        <p:nvSpPr>
          <p:cNvPr id="51" name="Rectangle 50"/>
          <p:cNvSpPr/>
          <p:nvPr/>
        </p:nvSpPr>
        <p:spPr>
          <a:xfrm>
            <a:off x="6128068" y="4160520"/>
            <a:ext cx="1783080" cy="1005840"/>
          </a:xfrm>
          <a:prstGeom prst="rect">
            <a:avLst/>
          </a:prstGeom>
          <a:solidFill>
            <a:srgbClr val="0D3B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2" name="Rectangle 51"/>
          <p:cNvSpPr/>
          <p:nvPr/>
        </p:nvSpPr>
        <p:spPr>
          <a:xfrm>
            <a:off x="6128068" y="4160520"/>
            <a:ext cx="1783080" cy="36576"/>
          </a:xfrm>
          <a:prstGeom prst="rect">
            <a:avLst/>
          </a:prstGeom>
          <a:solidFill>
            <a:srgbClr val="F5A6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3" name="TextBox 52"/>
          <p:cNvSpPr txBox="1"/>
          <p:nvPr/>
        </p:nvSpPr>
        <p:spPr>
          <a:xfrm>
            <a:off x="6128068" y="4224528"/>
            <a:ext cx="1783080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1">
                <a:solidFill>
                  <a:srgbClr val="F5A623"/>
                </a:solidFill>
              </a:rPr>
              <a:t>500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6128068" y="4727449"/>
            <a:ext cx="1783080" cy="24622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>
                <a:solidFill>
                  <a:srgbClr val="A0B4C8"/>
                </a:solidFill>
              </a:rPr>
              <a:t>Callers</a:t>
            </a:r>
          </a:p>
        </p:txBody>
      </p:sp>
      <p:sp>
        <p:nvSpPr>
          <p:cNvPr id="55" name="Rectangle 54"/>
          <p:cNvSpPr/>
          <p:nvPr/>
        </p:nvSpPr>
        <p:spPr>
          <a:xfrm>
            <a:off x="8048308" y="4160520"/>
            <a:ext cx="1783080" cy="1005840"/>
          </a:xfrm>
          <a:prstGeom prst="rect">
            <a:avLst/>
          </a:prstGeom>
          <a:solidFill>
            <a:srgbClr val="0D3B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6" name="Rectangle 55"/>
          <p:cNvSpPr/>
          <p:nvPr/>
        </p:nvSpPr>
        <p:spPr>
          <a:xfrm>
            <a:off x="8048308" y="4160520"/>
            <a:ext cx="1783080" cy="36576"/>
          </a:xfrm>
          <a:prstGeom prst="rect">
            <a:avLst/>
          </a:prstGeom>
          <a:solidFill>
            <a:srgbClr val="F5A6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7" name="TextBox 56"/>
          <p:cNvSpPr txBox="1"/>
          <p:nvPr/>
        </p:nvSpPr>
        <p:spPr>
          <a:xfrm>
            <a:off x="8048308" y="4224528"/>
            <a:ext cx="1783080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1">
                <a:solidFill>
                  <a:srgbClr val="F5A623"/>
                </a:solidFill>
              </a:rPr>
              <a:t>₹59,405</a:t>
            </a:r>
          </a:p>
        </p:txBody>
      </p:sp>
      <p:sp>
        <p:nvSpPr>
          <p:cNvPr id="58" name="TextBox 57"/>
          <p:cNvSpPr txBox="1"/>
          <p:nvPr/>
        </p:nvSpPr>
        <p:spPr>
          <a:xfrm>
            <a:off x="8048308" y="4727449"/>
            <a:ext cx="1783080" cy="24622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>
                <a:solidFill>
                  <a:srgbClr val="A0B4C8"/>
                </a:solidFill>
              </a:rPr>
              <a:t>Revenue</a:t>
            </a:r>
          </a:p>
        </p:txBody>
      </p:sp>
      <p:sp>
        <p:nvSpPr>
          <p:cNvPr id="59" name="Rectangle 58"/>
          <p:cNvSpPr/>
          <p:nvPr/>
        </p:nvSpPr>
        <p:spPr>
          <a:xfrm>
            <a:off x="9968548" y="4160520"/>
            <a:ext cx="1783080" cy="1005840"/>
          </a:xfrm>
          <a:prstGeom prst="rect">
            <a:avLst/>
          </a:prstGeom>
          <a:solidFill>
            <a:srgbClr val="0D3B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0" name="Rectangle 59"/>
          <p:cNvSpPr/>
          <p:nvPr/>
        </p:nvSpPr>
        <p:spPr>
          <a:xfrm>
            <a:off x="9968548" y="4160520"/>
            <a:ext cx="1783080" cy="36576"/>
          </a:xfrm>
          <a:prstGeom prst="rect">
            <a:avLst/>
          </a:prstGeom>
          <a:solidFill>
            <a:srgbClr val="F5A6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1" name="TextBox 60"/>
          <p:cNvSpPr txBox="1"/>
          <p:nvPr/>
        </p:nvSpPr>
        <p:spPr>
          <a:xfrm>
            <a:off x="9968548" y="4224528"/>
            <a:ext cx="1783080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1">
                <a:solidFill>
                  <a:srgbClr val="F5A623"/>
                </a:solidFill>
              </a:rPr>
              <a:t>52s</a:t>
            </a:r>
          </a:p>
        </p:txBody>
      </p:sp>
      <p:sp>
        <p:nvSpPr>
          <p:cNvPr id="62" name="TextBox 61"/>
          <p:cNvSpPr txBox="1"/>
          <p:nvPr/>
        </p:nvSpPr>
        <p:spPr>
          <a:xfrm>
            <a:off x="9968548" y="4727449"/>
            <a:ext cx="1783080" cy="24622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>
                <a:solidFill>
                  <a:srgbClr val="A0B4C8"/>
                </a:solidFill>
              </a:rPr>
              <a:t>Runtime</a:t>
            </a:r>
          </a:p>
        </p:txBody>
      </p:sp>
      <p:sp>
        <p:nvSpPr>
          <p:cNvPr id="63" name="Rectangle 62"/>
          <p:cNvSpPr/>
          <p:nvPr/>
        </p:nvSpPr>
        <p:spPr>
          <a:xfrm>
            <a:off x="1588" y="6583680"/>
            <a:ext cx="12188952" cy="274320"/>
          </a:xfrm>
          <a:prstGeom prst="rect">
            <a:avLst/>
          </a:prstGeom>
          <a:solidFill>
            <a:srgbClr val="0A29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4" name="TextBox 63"/>
          <p:cNvSpPr txBox="1"/>
          <p:nvPr/>
        </p:nvSpPr>
        <p:spPr>
          <a:xfrm>
            <a:off x="458788" y="6601968"/>
            <a:ext cx="114300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>
                <a:solidFill>
                  <a:srgbClr val="A0B4C8"/>
                </a:solidFill>
              </a:rPr>
              <a:t>Chandan Sahoo  |  Wipro CDR Analytics Platform  |  February 2026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0253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1588" y="0"/>
            <a:ext cx="12188952" cy="1097280"/>
          </a:xfrm>
          <a:prstGeom prst="rect">
            <a:avLst/>
          </a:prstGeom>
          <a:solidFill>
            <a:srgbClr val="0A29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1588" y="1097280"/>
            <a:ext cx="12188952" cy="45720"/>
          </a:xfrm>
          <a:prstGeom prst="rect">
            <a:avLst/>
          </a:prstGeom>
          <a:solidFill>
            <a:srgbClr val="00C5C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458788" y="137160"/>
            <a:ext cx="10972800" cy="55399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>
                <a:solidFill>
                  <a:srgbClr val="FFFFFF"/>
                </a:solidFill>
              </a:rPr>
              <a:t>ADVANCED SQL QUERIES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8788" y="731521"/>
            <a:ext cx="10972800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i="1">
                <a:solidFill>
                  <a:srgbClr val="A0B4C8"/>
                </a:solidFill>
              </a:rPr>
              <a:t>CTEs  |  Window Functions  |  Fraud Detection  |  Network Analysis</a:t>
            </a:r>
          </a:p>
        </p:txBody>
      </p:sp>
      <p:sp>
        <p:nvSpPr>
          <p:cNvPr id="6" name="Rectangle 5"/>
          <p:cNvSpPr/>
          <p:nvPr/>
        </p:nvSpPr>
        <p:spPr>
          <a:xfrm>
            <a:off x="275908" y="1280160"/>
            <a:ext cx="3474720" cy="347472"/>
          </a:xfrm>
          <a:prstGeom prst="rect">
            <a:avLst/>
          </a:prstGeom>
          <a:solidFill>
            <a:srgbClr val="F5A6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385637" y="1316736"/>
            <a:ext cx="3291839" cy="2616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0A2942"/>
                </a:solidFill>
              </a:rPr>
              <a:t>Q1  Monthly Revenue Trend</a:t>
            </a:r>
          </a:p>
        </p:txBody>
      </p:sp>
      <p:sp>
        <p:nvSpPr>
          <p:cNvPr id="8" name="Rectangle 7"/>
          <p:cNvSpPr/>
          <p:nvPr/>
        </p:nvSpPr>
        <p:spPr>
          <a:xfrm>
            <a:off x="275908" y="1627631"/>
            <a:ext cx="3474720" cy="1554480"/>
          </a:xfrm>
          <a:prstGeom prst="rect">
            <a:avLst/>
          </a:prstGeom>
          <a:solidFill>
            <a:srgbClr val="0A29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413067" y="1691640"/>
            <a:ext cx="3246120" cy="24622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>
                <a:solidFill>
                  <a:srgbClr val="F0F4F8"/>
                </a:solidFill>
              </a:rPr>
              <a:t>▸  CTE + LAG() Window Function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13067" y="2057401"/>
            <a:ext cx="3246120" cy="24622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>
                <a:solidFill>
                  <a:srgbClr val="F0F4F8"/>
                </a:solidFill>
              </a:rPr>
              <a:t>▸  Month-over-Month Growth %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13067" y="2423161"/>
            <a:ext cx="3246120" cy="24622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>
                <a:solidFill>
                  <a:srgbClr val="F0F4F8"/>
                </a:solidFill>
              </a:rPr>
              <a:t>▸  Revenue Share per Month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13067" y="2788921"/>
            <a:ext cx="3246120" cy="24622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>
                <a:solidFill>
                  <a:srgbClr val="F0F4F8"/>
                </a:solidFill>
              </a:rPr>
              <a:t>▸  12 months analysed</a:t>
            </a:r>
          </a:p>
        </p:txBody>
      </p:sp>
      <p:sp>
        <p:nvSpPr>
          <p:cNvPr id="13" name="Rectangle 12"/>
          <p:cNvSpPr/>
          <p:nvPr/>
        </p:nvSpPr>
        <p:spPr>
          <a:xfrm>
            <a:off x="3979227" y="1280160"/>
            <a:ext cx="3474720" cy="347472"/>
          </a:xfrm>
          <a:prstGeom prst="rect">
            <a:avLst/>
          </a:prstGeom>
          <a:solidFill>
            <a:srgbClr val="008B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4088957" y="1316736"/>
            <a:ext cx="3291839" cy="2616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0A2942"/>
                </a:solidFill>
              </a:rPr>
              <a:t>Q2  Customer Ranking</a:t>
            </a:r>
          </a:p>
        </p:txBody>
      </p:sp>
      <p:sp>
        <p:nvSpPr>
          <p:cNvPr id="15" name="Rectangle 14"/>
          <p:cNvSpPr/>
          <p:nvPr/>
        </p:nvSpPr>
        <p:spPr>
          <a:xfrm>
            <a:off x="3979227" y="1627631"/>
            <a:ext cx="3474720" cy="1554480"/>
          </a:xfrm>
          <a:prstGeom prst="rect">
            <a:avLst/>
          </a:prstGeom>
          <a:solidFill>
            <a:srgbClr val="0A29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4116388" y="1691640"/>
            <a:ext cx="3246120" cy="24622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>
                <a:solidFill>
                  <a:srgbClr val="F0F4F8"/>
                </a:solidFill>
              </a:rPr>
              <a:t>▸  RANK() + NTILE(4)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116388" y="2057401"/>
            <a:ext cx="3246120" cy="24622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>
                <a:solidFill>
                  <a:srgbClr val="F0F4F8"/>
                </a:solidFill>
              </a:rPr>
              <a:t>▸  PLATINUM/GOLD/SILVER/BRONZE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116388" y="2423161"/>
            <a:ext cx="3246120" cy="24622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>
                <a:solidFill>
                  <a:srgbClr val="F0F4F8"/>
                </a:solidFill>
              </a:rPr>
              <a:t>▸  Top 10 by total revenue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116388" y="2788921"/>
            <a:ext cx="3246120" cy="24622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>
                <a:solidFill>
                  <a:srgbClr val="F0F4F8"/>
                </a:solidFill>
              </a:rPr>
              <a:t>▸  Services used per customer</a:t>
            </a:r>
          </a:p>
        </p:txBody>
      </p:sp>
      <p:sp>
        <p:nvSpPr>
          <p:cNvPr id="20" name="Rectangle 19"/>
          <p:cNvSpPr/>
          <p:nvPr/>
        </p:nvSpPr>
        <p:spPr>
          <a:xfrm>
            <a:off x="7682548" y="1280160"/>
            <a:ext cx="3474720" cy="347472"/>
          </a:xfrm>
          <a:prstGeom prst="rect">
            <a:avLst/>
          </a:prstGeom>
          <a:solidFill>
            <a:srgbClr val="E74C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7792277" y="1316736"/>
            <a:ext cx="3291839" cy="2616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0A2942"/>
                </a:solidFill>
              </a:rPr>
              <a:t>Q3  Fraud Detection</a:t>
            </a:r>
          </a:p>
        </p:txBody>
      </p:sp>
      <p:sp>
        <p:nvSpPr>
          <p:cNvPr id="22" name="Rectangle 21"/>
          <p:cNvSpPr/>
          <p:nvPr/>
        </p:nvSpPr>
        <p:spPr>
          <a:xfrm>
            <a:off x="7682548" y="1627631"/>
            <a:ext cx="3474720" cy="1554480"/>
          </a:xfrm>
          <a:prstGeom prst="rect">
            <a:avLst/>
          </a:prstGeom>
          <a:solidFill>
            <a:srgbClr val="0A29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7819708" y="1691640"/>
            <a:ext cx="3246120" cy="24622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>
                <a:solidFill>
                  <a:srgbClr val="F0F4F8"/>
                </a:solidFill>
              </a:rPr>
              <a:t>▸  Rolling 7-Day Average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819708" y="2057401"/>
            <a:ext cx="3246120" cy="24622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>
                <a:solidFill>
                  <a:srgbClr val="F0F4F8"/>
                </a:solidFill>
              </a:rPr>
              <a:t>▸  ROWS BETWEEN 6 PRECEDING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819708" y="2423161"/>
            <a:ext cx="3246120" cy="24622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>
                <a:solidFill>
                  <a:srgbClr val="F0F4F8"/>
                </a:solidFill>
              </a:rPr>
              <a:t>▸  Daily fraud rate tracking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819708" y="2788921"/>
            <a:ext cx="3246120" cy="24622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>
                <a:solidFill>
                  <a:srgbClr val="F0F4F8"/>
                </a:solidFill>
              </a:rPr>
              <a:t>▸  250 fraud calls detected</a:t>
            </a:r>
          </a:p>
        </p:txBody>
      </p:sp>
      <p:sp>
        <p:nvSpPr>
          <p:cNvPr id="27" name="Rectangle 26"/>
          <p:cNvSpPr/>
          <p:nvPr/>
        </p:nvSpPr>
        <p:spPr>
          <a:xfrm>
            <a:off x="275908" y="3566160"/>
            <a:ext cx="3474720" cy="347472"/>
          </a:xfrm>
          <a:prstGeom prst="rect">
            <a:avLst/>
          </a:prstGeom>
          <a:solidFill>
            <a:srgbClr val="8E44A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TextBox 27"/>
          <p:cNvSpPr txBox="1"/>
          <p:nvPr/>
        </p:nvSpPr>
        <p:spPr>
          <a:xfrm>
            <a:off x="385637" y="3602736"/>
            <a:ext cx="3291839" cy="2616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0A2942"/>
                </a:solidFill>
              </a:rPr>
              <a:t>Q4  Network Performance</a:t>
            </a:r>
          </a:p>
        </p:txBody>
      </p:sp>
      <p:sp>
        <p:nvSpPr>
          <p:cNvPr id="29" name="Rectangle 28"/>
          <p:cNvSpPr/>
          <p:nvPr/>
        </p:nvSpPr>
        <p:spPr>
          <a:xfrm>
            <a:off x="275908" y="3913632"/>
            <a:ext cx="3474720" cy="1554480"/>
          </a:xfrm>
          <a:prstGeom prst="rect">
            <a:avLst/>
          </a:prstGeom>
          <a:solidFill>
            <a:srgbClr val="0A29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0" name="TextBox 29"/>
          <p:cNvSpPr txBox="1"/>
          <p:nvPr/>
        </p:nvSpPr>
        <p:spPr>
          <a:xfrm>
            <a:off x="413067" y="3977640"/>
            <a:ext cx="3246120" cy="24622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>
                <a:solidFill>
                  <a:srgbClr val="F0F4F8"/>
                </a:solidFill>
              </a:rPr>
              <a:t>▸  RANK() with PARTITION BY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413067" y="4343401"/>
            <a:ext cx="3246120" cy="24622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>
                <a:solidFill>
                  <a:srgbClr val="F0F4F8"/>
                </a:solidFill>
              </a:rPr>
              <a:t>▸  Drop rate by network/type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413067" y="4709160"/>
            <a:ext cx="3246120" cy="24622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>
                <a:solidFill>
                  <a:srgbClr val="F0F4F8"/>
                </a:solidFill>
              </a:rPr>
              <a:t>▸  16 row result matrix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413067" y="5074921"/>
            <a:ext cx="3246120" cy="24622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>
                <a:solidFill>
                  <a:srgbClr val="F0F4F8"/>
                </a:solidFill>
              </a:rPr>
              <a:t>▸  Reliability ranking</a:t>
            </a:r>
          </a:p>
        </p:txBody>
      </p:sp>
      <p:sp>
        <p:nvSpPr>
          <p:cNvPr id="34" name="Rectangle 33"/>
          <p:cNvSpPr/>
          <p:nvPr/>
        </p:nvSpPr>
        <p:spPr>
          <a:xfrm>
            <a:off x="3979227" y="3566160"/>
            <a:ext cx="3474720" cy="347472"/>
          </a:xfrm>
          <a:prstGeom prst="rect">
            <a:avLst/>
          </a:prstGeom>
          <a:solidFill>
            <a:srgbClr val="27AE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5" name="TextBox 34"/>
          <p:cNvSpPr txBox="1"/>
          <p:nvPr/>
        </p:nvSpPr>
        <p:spPr>
          <a:xfrm>
            <a:off x="4088957" y="3602736"/>
            <a:ext cx="3291839" cy="2616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0A2942"/>
                </a:solidFill>
              </a:rPr>
              <a:t>Q5  Cell Tower Analysis</a:t>
            </a:r>
          </a:p>
        </p:txBody>
      </p:sp>
      <p:sp>
        <p:nvSpPr>
          <p:cNvPr id="36" name="Rectangle 35"/>
          <p:cNvSpPr/>
          <p:nvPr/>
        </p:nvSpPr>
        <p:spPr>
          <a:xfrm>
            <a:off x="3979227" y="3913632"/>
            <a:ext cx="3474720" cy="1554480"/>
          </a:xfrm>
          <a:prstGeom prst="rect">
            <a:avLst/>
          </a:prstGeom>
          <a:solidFill>
            <a:srgbClr val="0A29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7" name="TextBox 36"/>
          <p:cNvSpPr txBox="1"/>
          <p:nvPr/>
        </p:nvSpPr>
        <p:spPr>
          <a:xfrm>
            <a:off x="4116388" y="3977640"/>
            <a:ext cx="3246120" cy="24622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>
                <a:solidFill>
                  <a:srgbClr val="F0F4F8"/>
                </a:solidFill>
              </a:rPr>
              <a:t>▸  Revenue per tower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4116388" y="4343401"/>
            <a:ext cx="3246120" cy="24622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>
                <a:solidFill>
                  <a:srgbClr val="F0F4F8"/>
                </a:solidFill>
              </a:rPr>
              <a:t>▸  Dropped call analysis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4116388" y="4709160"/>
            <a:ext cx="3246120" cy="24622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>
                <a:solidFill>
                  <a:srgbClr val="F0F4F8"/>
                </a:solidFill>
              </a:rPr>
              <a:t>▸  Fraud rate per tower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4116388" y="5074921"/>
            <a:ext cx="3246120" cy="24622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>
                <a:solidFill>
                  <a:srgbClr val="F0F4F8"/>
                </a:solidFill>
              </a:rPr>
              <a:t>▸  5 towers ranked</a:t>
            </a:r>
          </a:p>
        </p:txBody>
      </p:sp>
      <p:sp>
        <p:nvSpPr>
          <p:cNvPr id="41" name="Rectangle 40"/>
          <p:cNvSpPr/>
          <p:nvPr/>
        </p:nvSpPr>
        <p:spPr>
          <a:xfrm>
            <a:off x="7682548" y="3566160"/>
            <a:ext cx="4206240" cy="347472"/>
          </a:xfrm>
          <a:prstGeom prst="rect">
            <a:avLst/>
          </a:prstGeom>
          <a:solidFill>
            <a:srgbClr val="00C5C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2" name="TextBox 41"/>
          <p:cNvSpPr txBox="1"/>
          <p:nvPr/>
        </p:nvSpPr>
        <p:spPr>
          <a:xfrm>
            <a:off x="7792276" y="3602736"/>
            <a:ext cx="4023360" cy="2616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0A2942"/>
                </a:solidFill>
              </a:rPr>
              <a:t>KEY SQL FEATURES USED</a:t>
            </a:r>
          </a:p>
        </p:txBody>
      </p:sp>
      <p:sp>
        <p:nvSpPr>
          <p:cNvPr id="43" name="Rectangle 42"/>
          <p:cNvSpPr/>
          <p:nvPr/>
        </p:nvSpPr>
        <p:spPr>
          <a:xfrm>
            <a:off x="7682548" y="3913632"/>
            <a:ext cx="4206240" cy="1554480"/>
          </a:xfrm>
          <a:prstGeom prst="rect">
            <a:avLst/>
          </a:prstGeom>
          <a:solidFill>
            <a:srgbClr val="0D3B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4" name="TextBox 43"/>
          <p:cNvSpPr txBox="1"/>
          <p:nvPr/>
        </p:nvSpPr>
        <p:spPr>
          <a:xfrm>
            <a:off x="7819708" y="3977640"/>
            <a:ext cx="3931920" cy="24622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>
                <a:solidFill>
                  <a:srgbClr val="00C5CD"/>
                </a:solidFill>
              </a:rPr>
              <a:t>✓  CTE (Common Table Expressions)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7819708" y="4270249"/>
            <a:ext cx="3931920" cy="24622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>
                <a:solidFill>
                  <a:srgbClr val="00C5CD"/>
                </a:solidFill>
              </a:rPr>
              <a:t>✓  LAG() / LEAD() Window Functions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7819708" y="4562856"/>
            <a:ext cx="3931920" cy="24622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>
                <a:solidFill>
                  <a:srgbClr val="00C5CD"/>
                </a:solidFill>
              </a:rPr>
              <a:t>✓  RANK() / NTILE() / ROW_NUMBER()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7819708" y="4855465"/>
            <a:ext cx="3931920" cy="24622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>
                <a:solidFill>
                  <a:srgbClr val="00C5CD"/>
                </a:solidFill>
              </a:rPr>
              <a:t>✓  ROWS BETWEEN (Rolling Windows)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7819708" y="5148073"/>
            <a:ext cx="3931920" cy="24622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>
                <a:solidFill>
                  <a:srgbClr val="00C5CD"/>
                </a:solidFill>
              </a:rPr>
              <a:t>✓  PARTITION BY / ORDER BY</a:t>
            </a:r>
          </a:p>
        </p:txBody>
      </p:sp>
      <p:sp>
        <p:nvSpPr>
          <p:cNvPr id="49" name="Rectangle 48"/>
          <p:cNvSpPr/>
          <p:nvPr/>
        </p:nvSpPr>
        <p:spPr>
          <a:xfrm>
            <a:off x="1588" y="6583680"/>
            <a:ext cx="12188952" cy="274320"/>
          </a:xfrm>
          <a:prstGeom prst="rect">
            <a:avLst/>
          </a:prstGeom>
          <a:solidFill>
            <a:srgbClr val="0A29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0" name="TextBox 49"/>
          <p:cNvSpPr txBox="1"/>
          <p:nvPr/>
        </p:nvSpPr>
        <p:spPr>
          <a:xfrm>
            <a:off x="458788" y="6601968"/>
            <a:ext cx="114300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>
                <a:solidFill>
                  <a:srgbClr val="A0B4C8"/>
                </a:solidFill>
              </a:rPr>
              <a:t>Chandan Sahoo  |  Wipro CDR Analytics Platform  |  February 2026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0253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1588" y="0"/>
            <a:ext cx="12188952" cy="1097280"/>
          </a:xfrm>
          <a:prstGeom prst="rect">
            <a:avLst/>
          </a:prstGeom>
          <a:solidFill>
            <a:srgbClr val="0A29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1588" y="1097280"/>
            <a:ext cx="12188952" cy="45720"/>
          </a:xfrm>
          <a:prstGeom prst="rect">
            <a:avLst/>
          </a:prstGeom>
          <a:solidFill>
            <a:srgbClr val="00C5C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458788" y="137160"/>
            <a:ext cx="10972800" cy="55399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>
                <a:solidFill>
                  <a:srgbClr val="FFFFFF"/>
                </a:solidFill>
              </a:rPr>
              <a:t>SNOWFLAKE OPTIMIZATION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8788" y="731521"/>
            <a:ext cx="10972800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i="1">
                <a:solidFill>
                  <a:srgbClr val="A0B4C8"/>
                </a:solidFill>
              </a:rPr>
              <a:t>Clustering  |  Time Travel  |  Semi-Structured Data  |  Performance</a:t>
            </a:r>
          </a:p>
        </p:txBody>
      </p:sp>
      <p:sp>
        <p:nvSpPr>
          <p:cNvPr id="6" name="Rectangle 5"/>
          <p:cNvSpPr/>
          <p:nvPr/>
        </p:nvSpPr>
        <p:spPr>
          <a:xfrm>
            <a:off x="367348" y="1280160"/>
            <a:ext cx="3657600" cy="365760"/>
          </a:xfrm>
          <a:prstGeom prst="rect">
            <a:avLst/>
          </a:prstGeom>
          <a:solidFill>
            <a:srgbClr val="008B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504508" y="1298449"/>
            <a:ext cx="3383280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0A2942"/>
                </a:solidFill>
              </a:rPr>
              <a:t>❄️  CLUSTERING KEYS</a:t>
            </a:r>
          </a:p>
        </p:txBody>
      </p:sp>
      <p:sp>
        <p:nvSpPr>
          <p:cNvPr id="8" name="Rectangle 7"/>
          <p:cNvSpPr/>
          <p:nvPr/>
        </p:nvSpPr>
        <p:spPr>
          <a:xfrm>
            <a:off x="367348" y="1645920"/>
            <a:ext cx="3657600" cy="1645920"/>
          </a:xfrm>
          <a:prstGeom prst="rect">
            <a:avLst/>
          </a:prstGeom>
          <a:solidFill>
            <a:srgbClr val="0D3B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504508" y="1719072"/>
            <a:ext cx="3383280" cy="2616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>
                <a:solidFill>
                  <a:srgbClr val="F0F4F8"/>
                </a:solidFill>
              </a:rPr>
              <a:t>▸  ALTER TABLE FACT_CDR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04508" y="2103120"/>
            <a:ext cx="3383280" cy="2616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>
                <a:solidFill>
                  <a:srgbClr val="F0F4F8"/>
                </a:solidFill>
              </a:rPr>
              <a:t>▸  CLUSTER BY (DATE_KEY)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04508" y="2487168"/>
            <a:ext cx="3383280" cy="2616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>
                <a:solidFill>
                  <a:srgbClr val="F0F4F8"/>
                </a:solidFill>
              </a:rPr>
              <a:t>▸  Faster date-range scans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04508" y="2871215"/>
            <a:ext cx="3383280" cy="2616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>
                <a:solidFill>
                  <a:srgbClr val="F0F4F8"/>
                </a:solidFill>
              </a:rPr>
              <a:t>▸  Applied to STG_CDR too</a:t>
            </a:r>
          </a:p>
        </p:txBody>
      </p:sp>
      <p:sp>
        <p:nvSpPr>
          <p:cNvPr id="13" name="Rectangle 12"/>
          <p:cNvSpPr/>
          <p:nvPr/>
        </p:nvSpPr>
        <p:spPr>
          <a:xfrm>
            <a:off x="4299268" y="1280160"/>
            <a:ext cx="3657600" cy="365760"/>
          </a:xfrm>
          <a:prstGeom prst="rect">
            <a:avLst/>
          </a:prstGeom>
          <a:solidFill>
            <a:srgbClr val="F5A6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4436428" y="1298449"/>
            <a:ext cx="3383280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0A2942"/>
                </a:solidFill>
              </a:rPr>
              <a:t>⏱️  TIME TRAVEL</a:t>
            </a:r>
          </a:p>
        </p:txBody>
      </p:sp>
      <p:sp>
        <p:nvSpPr>
          <p:cNvPr id="15" name="Rectangle 14"/>
          <p:cNvSpPr/>
          <p:nvPr/>
        </p:nvSpPr>
        <p:spPr>
          <a:xfrm>
            <a:off x="4299268" y="1645920"/>
            <a:ext cx="3657600" cy="1645920"/>
          </a:xfrm>
          <a:prstGeom prst="rect">
            <a:avLst/>
          </a:prstGeom>
          <a:solidFill>
            <a:srgbClr val="0D3B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4436428" y="1719072"/>
            <a:ext cx="3383280" cy="2616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>
                <a:solidFill>
                  <a:srgbClr val="F0F4F8"/>
                </a:solidFill>
              </a:rPr>
              <a:t>▸  7-day data retention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436428" y="2103120"/>
            <a:ext cx="3383280" cy="2616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>
                <a:solidFill>
                  <a:srgbClr val="F0F4F8"/>
                </a:solidFill>
              </a:rPr>
              <a:t>▸  DELETE 138 records demo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436428" y="2487168"/>
            <a:ext cx="3383280" cy="2616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>
                <a:solidFill>
                  <a:srgbClr val="F0F4F8"/>
                </a:solidFill>
              </a:rPr>
              <a:t>▸  Recovered 100% records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436428" y="2871215"/>
            <a:ext cx="3383280" cy="2616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>
                <a:solidFill>
                  <a:srgbClr val="F0F4F8"/>
                </a:solidFill>
              </a:rPr>
              <a:t>▸  BEFORE (STATEMENT =&gt;)</a:t>
            </a:r>
          </a:p>
        </p:txBody>
      </p:sp>
      <p:sp>
        <p:nvSpPr>
          <p:cNvPr id="20" name="Rectangle 19"/>
          <p:cNvSpPr/>
          <p:nvPr/>
        </p:nvSpPr>
        <p:spPr>
          <a:xfrm>
            <a:off x="8231188" y="1280160"/>
            <a:ext cx="3657600" cy="365760"/>
          </a:xfrm>
          <a:prstGeom prst="rect">
            <a:avLst/>
          </a:prstGeom>
          <a:solidFill>
            <a:srgbClr val="00C5C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8368348" y="1298449"/>
            <a:ext cx="3383280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0A2942"/>
                </a:solidFill>
              </a:rPr>
              <a:t>📄  SEMI-STRUCTURED</a:t>
            </a:r>
          </a:p>
        </p:txBody>
      </p:sp>
      <p:sp>
        <p:nvSpPr>
          <p:cNvPr id="22" name="Rectangle 21"/>
          <p:cNvSpPr/>
          <p:nvPr/>
        </p:nvSpPr>
        <p:spPr>
          <a:xfrm>
            <a:off x="8231188" y="1645920"/>
            <a:ext cx="3657600" cy="1645920"/>
          </a:xfrm>
          <a:prstGeom prst="rect">
            <a:avLst/>
          </a:prstGeom>
          <a:solidFill>
            <a:srgbClr val="0D3B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8368348" y="1719072"/>
            <a:ext cx="3383280" cy="2616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>
                <a:solidFill>
                  <a:srgbClr val="F0F4F8"/>
                </a:solidFill>
              </a:rPr>
              <a:t>▸  CDR_JSON VARIANT table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368348" y="2103120"/>
            <a:ext cx="3383280" cy="2616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>
                <a:solidFill>
                  <a:srgbClr val="F0F4F8"/>
                </a:solidFill>
              </a:rPr>
              <a:t>▸  PARSE_JSON() used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368348" y="2487168"/>
            <a:ext cx="3383280" cy="2616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>
                <a:solidFill>
                  <a:srgbClr val="F0F4F8"/>
                </a:solidFill>
              </a:rPr>
              <a:t>▸  1,000 records as JSON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368348" y="2871215"/>
            <a:ext cx="3383280" cy="2616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>
                <a:solidFill>
                  <a:srgbClr val="F0F4F8"/>
                </a:solidFill>
              </a:rPr>
              <a:t>▸  Query with : notation</a:t>
            </a:r>
          </a:p>
        </p:txBody>
      </p:sp>
      <p:sp>
        <p:nvSpPr>
          <p:cNvPr id="27" name="Rectangle 26"/>
          <p:cNvSpPr/>
          <p:nvPr/>
        </p:nvSpPr>
        <p:spPr>
          <a:xfrm>
            <a:off x="367348" y="3520440"/>
            <a:ext cx="11430000" cy="365760"/>
          </a:xfrm>
          <a:prstGeom prst="rect">
            <a:avLst/>
          </a:prstGeom>
          <a:solidFill>
            <a:srgbClr val="061A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TextBox 27"/>
          <p:cNvSpPr txBox="1"/>
          <p:nvPr/>
        </p:nvSpPr>
        <p:spPr>
          <a:xfrm>
            <a:off x="367348" y="3520440"/>
            <a:ext cx="11430000" cy="2923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>
                <a:solidFill>
                  <a:srgbClr val="00C5CD"/>
                </a:solidFill>
              </a:rPr>
              <a:t>🚀  SECURE VIEWS — ANALYTICS LAYER</a:t>
            </a:r>
          </a:p>
        </p:txBody>
      </p:sp>
      <p:sp>
        <p:nvSpPr>
          <p:cNvPr id="29" name="Rectangle 28"/>
          <p:cNvSpPr/>
          <p:nvPr/>
        </p:nvSpPr>
        <p:spPr>
          <a:xfrm>
            <a:off x="367348" y="3931920"/>
            <a:ext cx="3657600" cy="347472"/>
          </a:xfrm>
          <a:prstGeom prst="rect">
            <a:avLst/>
          </a:prstGeom>
          <a:solidFill>
            <a:srgbClr val="F5A6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0" name="TextBox 29"/>
          <p:cNvSpPr txBox="1"/>
          <p:nvPr/>
        </p:nvSpPr>
        <p:spPr>
          <a:xfrm>
            <a:off x="458788" y="3950209"/>
            <a:ext cx="3474720" cy="24622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>
                <a:solidFill>
                  <a:srgbClr val="0A2942"/>
                </a:solidFill>
              </a:rPr>
              <a:t>VW_MONTHLY_REVENUE</a:t>
            </a:r>
          </a:p>
        </p:txBody>
      </p:sp>
      <p:sp>
        <p:nvSpPr>
          <p:cNvPr id="31" name="Rectangle 30"/>
          <p:cNvSpPr/>
          <p:nvPr/>
        </p:nvSpPr>
        <p:spPr>
          <a:xfrm>
            <a:off x="367348" y="4279392"/>
            <a:ext cx="3657600" cy="1097280"/>
          </a:xfrm>
          <a:prstGeom prst="rect">
            <a:avLst/>
          </a:prstGeom>
          <a:solidFill>
            <a:srgbClr val="0D3B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2" name="TextBox 31"/>
          <p:cNvSpPr txBox="1"/>
          <p:nvPr/>
        </p:nvSpPr>
        <p:spPr>
          <a:xfrm>
            <a:off x="504508" y="4343400"/>
            <a:ext cx="3383280" cy="55399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>
                <a:solidFill>
                  <a:srgbClr val="F0F4F8"/>
                </a:solidFill>
              </a:rPr>
              <a:t>Monthly revenue by call type
Year/Month/Call Type breakdown
Unique callers per month</a:t>
            </a:r>
          </a:p>
        </p:txBody>
      </p:sp>
      <p:sp>
        <p:nvSpPr>
          <p:cNvPr id="33" name="Rectangle 32"/>
          <p:cNvSpPr/>
          <p:nvPr/>
        </p:nvSpPr>
        <p:spPr>
          <a:xfrm>
            <a:off x="4299268" y="3931920"/>
            <a:ext cx="3657600" cy="347472"/>
          </a:xfrm>
          <a:prstGeom prst="rect">
            <a:avLst/>
          </a:prstGeom>
          <a:solidFill>
            <a:srgbClr val="27AE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4" name="TextBox 33"/>
          <p:cNvSpPr txBox="1"/>
          <p:nvPr/>
        </p:nvSpPr>
        <p:spPr>
          <a:xfrm>
            <a:off x="4390708" y="3950209"/>
            <a:ext cx="3474720" cy="24622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>
                <a:solidFill>
                  <a:srgbClr val="0A2942"/>
                </a:solidFill>
              </a:rPr>
              <a:t>VW_CUSTOMER_SUMMARY</a:t>
            </a:r>
          </a:p>
        </p:txBody>
      </p:sp>
      <p:sp>
        <p:nvSpPr>
          <p:cNvPr id="35" name="Rectangle 34"/>
          <p:cNvSpPr/>
          <p:nvPr/>
        </p:nvSpPr>
        <p:spPr>
          <a:xfrm>
            <a:off x="4299268" y="4279392"/>
            <a:ext cx="3657600" cy="1097280"/>
          </a:xfrm>
          <a:prstGeom prst="rect">
            <a:avLst/>
          </a:prstGeom>
          <a:solidFill>
            <a:srgbClr val="0D3B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6" name="TextBox 35"/>
          <p:cNvSpPr txBox="1"/>
          <p:nvPr/>
        </p:nvSpPr>
        <p:spPr>
          <a:xfrm>
            <a:off x="4436428" y="4343400"/>
            <a:ext cx="3383280" cy="55399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>
                <a:solidFill>
                  <a:srgbClr val="F0F4F8"/>
                </a:solidFill>
              </a:rPr>
              <a:t>Customer-level aggregation
Total calls, revenue, fraud count
Roaming count per customer</a:t>
            </a:r>
          </a:p>
        </p:txBody>
      </p:sp>
      <p:sp>
        <p:nvSpPr>
          <p:cNvPr id="37" name="Rectangle 36"/>
          <p:cNvSpPr/>
          <p:nvPr/>
        </p:nvSpPr>
        <p:spPr>
          <a:xfrm>
            <a:off x="8231188" y="3931920"/>
            <a:ext cx="3657600" cy="347472"/>
          </a:xfrm>
          <a:prstGeom prst="rect">
            <a:avLst/>
          </a:prstGeom>
          <a:solidFill>
            <a:srgbClr val="008B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8" name="TextBox 37"/>
          <p:cNvSpPr txBox="1"/>
          <p:nvPr/>
        </p:nvSpPr>
        <p:spPr>
          <a:xfrm>
            <a:off x="8322628" y="3950209"/>
            <a:ext cx="3474720" cy="24622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>
                <a:solidFill>
                  <a:srgbClr val="0A2942"/>
                </a:solidFill>
              </a:rPr>
              <a:t>VW_NETWORK_PERFORMANCE</a:t>
            </a:r>
          </a:p>
        </p:txBody>
      </p:sp>
      <p:sp>
        <p:nvSpPr>
          <p:cNvPr id="39" name="Rectangle 38"/>
          <p:cNvSpPr/>
          <p:nvPr/>
        </p:nvSpPr>
        <p:spPr>
          <a:xfrm>
            <a:off x="8231188" y="4279392"/>
            <a:ext cx="3657600" cy="1097280"/>
          </a:xfrm>
          <a:prstGeom prst="rect">
            <a:avLst/>
          </a:prstGeom>
          <a:solidFill>
            <a:srgbClr val="0D3B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0" name="TextBox 39"/>
          <p:cNvSpPr txBox="1"/>
          <p:nvPr/>
        </p:nvSpPr>
        <p:spPr>
          <a:xfrm>
            <a:off x="8368348" y="4343400"/>
            <a:ext cx="3383280" cy="55399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>
                <a:solidFill>
                  <a:srgbClr val="F0F4F8"/>
                </a:solidFill>
              </a:rPr>
              <a:t>Network drop rate analysis
4G / 5G / 3G / 2G breakdown
Reliability by call type</a:t>
            </a:r>
          </a:p>
        </p:txBody>
      </p:sp>
      <p:sp>
        <p:nvSpPr>
          <p:cNvPr id="41" name="Rectangle 40"/>
          <p:cNvSpPr/>
          <p:nvPr/>
        </p:nvSpPr>
        <p:spPr>
          <a:xfrm>
            <a:off x="1588" y="6583680"/>
            <a:ext cx="12188952" cy="274320"/>
          </a:xfrm>
          <a:prstGeom prst="rect">
            <a:avLst/>
          </a:prstGeom>
          <a:solidFill>
            <a:srgbClr val="0A29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2" name="TextBox 41"/>
          <p:cNvSpPr txBox="1"/>
          <p:nvPr/>
        </p:nvSpPr>
        <p:spPr>
          <a:xfrm>
            <a:off x="458788" y="6601968"/>
            <a:ext cx="114300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>
                <a:solidFill>
                  <a:srgbClr val="A0B4C8"/>
                </a:solidFill>
              </a:rPr>
              <a:t>Chandan Sahoo  |  Wipro CDR Analytics Platform  |  February 2026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0253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1588" y="0"/>
            <a:ext cx="12188952" cy="1097280"/>
          </a:xfrm>
          <a:prstGeom prst="rect">
            <a:avLst/>
          </a:prstGeom>
          <a:solidFill>
            <a:srgbClr val="0A29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1588" y="1097280"/>
            <a:ext cx="12188952" cy="45720"/>
          </a:xfrm>
          <a:prstGeom prst="rect">
            <a:avLst/>
          </a:prstGeom>
          <a:solidFill>
            <a:srgbClr val="00C5C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458788" y="137160"/>
            <a:ext cx="10972800" cy="55399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>
                <a:solidFill>
                  <a:srgbClr val="FFFFFF"/>
                </a:solidFill>
              </a:rPr>
              <a:t>SECURITY &amp; GOVERNANCE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8788" y="731521"/>
            <a:ext cx="10972800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i="1">
                <a:solidFill>
                  <a:srgbClr val="A0B4C8"/>
                </a:solidFill>
              </a:rPr>
              <a:t>RBAC  |  Data Masking  |  Row Access Policy  |  Audit Logging</a:t>
            </a:r>
          </a:p>
        </p:txBody>
      </p:sp>
      <p:sp>
        <p:nvSpPr>
          <p:cNvPr id="6" name="Rectangle 5"/>
          <p:cNvSpPr/>
          <p:nvPr/>
        </p:nvSpPr>
        <p:spPr>
          <a:xfrm>
            <a:off x="348932" y="1719526"/>
            <a:ext cx="3749039" cy="446864"/>
          </a:xfrm>
          <a:prstGeom prst="rect">
            <a:avLst/>
          </a:prstGeom>
          <a:solidFill>
            <a:srgbClr val="E74C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486091" y="1796612"/>
            <a:ext cx="3474720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dirty="0">
                <a:solidFill>
                  <a:srgbClr val="FFFFFF"/>
                </a:solidFill>
              </a:rPr>
              <a:t>🔒  </a:t>
            </a:r>
            <a:r>
              <a:rPr sz="1200" b="1" dirty="0">
                <a:solidFill>
                  <a:srgbClr val="0A2942"/>
                </a:solidFill>
              </a:rPr>
              <a:t>RBAC — 3 ROLES</a:t>
            </a:r>
          </a:p>
        </p:txBody>
      </p:sp>
      <p:sp>
        <p:nvSpPr>
          <p:cNvPr id="8" name="Rectangle 7"/>
          <p:cNvSpPr/>
          <p:nvPr/>
        </p:nvSpPr>
        <p:spPr>
          <a:xfrm>
            <a:off x="348932" y="2510255"/>
            <a:ext cx="3749039" cy="320040"/>
          </a:xfrm>
          <a:prstGeom prst="rect">
            <a:avLst/>
          </a:prstGeom>
          <a:solidFill>
            <a:srgbClr val="E74C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486091" y="2528543"/>
            <a:ext cx="3474720" cy="2616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0A2942"/>
                </a:solidFill>
              </a:rPr>
              <a:t>CDR_ADMIN</a:t>
            </a:r>
          </a:p>
        </p:txBody>
      </p:sp>
      <p:sp>
        <p:nvSpPr>
          <p:cNvPr id="10" name="Rectangle 9"/>
          <p:cNvSpPr/>
          <p:nvPr/>
        </p:nvSpPr>
        <p:spPr>
          <a:xfrm>
            <a:off x="348932" y="2830295"/>
            <a:ext cx="3749039" cy="594360"/>
          </a:xfrm>
          <a:prstGeom prst="rect">
            <a:avLst/>
          </a:prstGeom>
          <a:solidFill>
            <a:srgbClr val="0A29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486091" y="2866871"/>
            <a:ext cx="3474720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>
                <a:solidFill>
                  <a:srgbClr val="F0F4F8"/>
                </a:solidFill>
              </a:rPr>
              <a:t>Full access to all schemas,
tables and warehouses</a:t>
            </a:r>
          </a:p>
        </p:txBody>
      </p:sp>
      <p:sp>
        <p:nvSpPr>
          <p:cNvPr id="12" name="Rectangle 11"/>
          <p:cNvSpPr/>
          <p:nvPr/>
        </p:nvSpPr>
        <p:spPr>
          <a:xfrm>
            <a:off x="348932" y="3516095"/>
            <a:ext cx="3749039" cy="320040"/>
          </a:xfrm>
          <a:prstGeom prst="rect">
            <a:avLst/>
          </a:prstGeom>
          <a:solidFill>
            <a:srgbClr val="E74C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486091" y="3534383"/>
            <a:ext cx="3474720" cy="2616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0A2942"/>
                </a:solidFill>
              </a:rPr>
              <a:t>CDR_ANALYST</a:t>
            </a:r>
          </a:p>
        </p:txBody>
      </p:sp>
      <p:sp>
        <p:nvSpPr>
          <p:cNvPr id="14" name="Rectangle 13"/>
          <p:cNvSpPr/>
          <p:nvPr/>
        </p:nvSpPr>
        <p:spPr>
          <a:xfrm>
            <a:off x="348932" y="3836135"/>
            <a:ext cx="3749039" cy="594360"/>
          </a:xfrm>
          <a:prstGeom prst="rect">
            <a:avLst/>
          </a:prstGeom>
          <a:solidFill>
            <a:srgbClr val="0A29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486091" y="3872711"/>
            <a:ext cx="3474720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>
                <a:solidFill>
                  <a:srgbClr val="F0F4F8"/>
                </a:solidFill>
              </a:rPr>
              <a:t>Read+Write STAGING,
Read-only DWH layer</a:t>
            </a:r>
          </a:p>
        </p:txBody>
      </p:sp>
      <p:sp>
        <p:nvSpPr>
          <p:cNvPr id="16" name="Rectangle 15"/>
          <p:cNvSpPr/>
          <p:nvPr/>
        </p:nvSpPr>
        <p:spPr>
          <a:xfrm>
            <a:off x="348932" y="4521935"/>
            <a:ext cx="3749039" cy="320040"/>
          </a:xfrm>
          <a:prstGeom prst="rect">
            <a:avLst/>
          </a:prstGeom>
          <a:solidFill>
            <a:srgbClr val="E74C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486091" y="4540223"/>
            <a:ext cx="3474720" cy="2616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0A2942"/>
                </a:solidFill>
              </a:rPr>
              <a:t>CDR_VIEWER</a:t>
            </a:r>
          </a:p>
        </p:txBody>
      </p:sp>
      <p:sp>
        <p:nvSpPr>
          <p:cNvPr id="18" name="Rectangle 17"/>
          <p:cNvSpPr/>
          <p:nvPr/>
        </p:nvSpPr>
        <p:spPr>
          <a:xfrm>
            <a:off x="348932" y="4841975"/>
            <a:ext cx="3749039" cy="594360"/>
          </a:xfrm>
          <a:prstGeom prst="rect">
            <a:avLst/>
          </a:prstGeom>
          <a:solidFill>
            <a:srgbClr val="0A29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486091" y="4878551"/>
            <a:ext cx="3474720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>
                <a:solidFill>
                  <a:srgbClr val="F0F4F8"/>
                </a:solidFill>
              </a:rPr>
              <a:t>Read-only access
to DWH layer only</a:t>
            </a:r>
          </a:p>
        </p:txBody>
      </p:sp>
      <p:sp>
        <p:nvSpPr>
          <p:cNvPr id="20" name="Rectangle 19"/>
          <p:cNvSpPr/>
          <p:nvPr/>
        </p:nvSpPr>
        <p:spPr>
          <a:xfrm>
            <a:off x="4299269" y="1720214"/>
            <a:ext cx="3749039" cy="446175"/>
          </a:xfrm>
          <a:prstGeom prst="rect">
            <a:avLst/>
          </a:prstGeom>
          <a:solidFill>
            <a:srgbClr val="008B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4436428" y="1805571"/>
            <a:ext cx="3474720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dirty="0">
                <a:solidFill>
                  <a:srgbClr val="FFFFFF"/>
                </a:solidFill>
              </a:rPr>
              <a:t>🎭  </a:t>
            </a:r>
            <a:r>
              <a:rPr sz="1200" b="1" dirty="0">
                <a:solidFill>
                  <a:srgbClr val="0A2942"/>
                </a:solidFill>
              </a:rPr>
              <a:t>DATA MASKING</a:t>
            </a:r>
          </a:p>
        </p:txBody>
      </p:sp>
      <p:sp>
        <p:nvSpPr>
          <p:cNvPr id="22" name="Rectangle 21"/>
          <p:cNvSpPr/>
          <p:nvPr/>
        </p:nvSpPr>
        <p:spPr>
          <a:xfrm>
            <a:off x="4299269" y="2517267"/>
            <a:ext cx="3749039" cy="320040"/>
          </a:xfrm>
          <a:prstGeom prst="rect">
            <a:avLst/>
          </a:prstGeom>
          <a:solidFill>
            <a:srgbClr val="008B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4436428" y="2535555"/>
            <a:ext cx="3474720" cy="2616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0A2942"/>
                </a:solidFill>
              </a:rPr>
              <a:t>CALLING_NUMBER</a:t>
            </a:r>
          </a:p>
        </p:txBody>
      </p:sp>
      <p:sp>
        <p:nvSpPr>
          <p:cNvPr id="24" name="Rectangle 23"/>
          <p:cNvSpPr/>
          <p:nvPr/>
        </p:nvSpPr>
        <p:spPr>
          <a:xfrm>
            <a:off x="4299269" y="2837307"/>
            <a:ext cx="3749039" cy="594360"/>
          </a:xfrm>
          <a:prstGeom prst="rect">
            <a:avLst/>
          </a:prstGeom>
          <a:solidFill>
            <a:srgbClr val="0A29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TextBox 24"/>
          <p:cNvSpPr txBox="1"/>
          <p:nvPr/>
        </p:nvSpPr>
        <p:spPr>
          <a:xfrm>
            <a:off x="4436428" y="2873883"/>
            <a:ext cx="3474720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>
                <a:solidFill>
                  <a:srgbClr val="F0F4F8"/>
                </a:solidFill>
              </a:rPr>
              <a:t>91XX ******** XX
(non-admin roles)</a:t>
            </a:r>
          </a:p>
        </p:txBody>
      </p:sp>
      <p:sp>
        <p:nvSpPr>
          <p:cNvPr id="26" name="Rectangle 25"/>
          <p:cNvSpPr/>
          <p:nvPr/>
        </p:nvSpPr>
        <p:spPr>
          <a:xfrm>
            <a:off x="4299269" y="3523107"/>
            <a:ext cx="3749039" cy="320040"/>
          </a:xfrm>
          <a:prstGeom prst="rect">
            <a:avLst/>
          </a:prstGeom>
          <a:solidFill>
            <a:srgbClr val="008B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TextBox 26"/>
          <p:cNvSpPr txBox="1"/>
          <p:nvPr/>
        </p:nvSpPr>
        <p:spPr>
          <a:xfrm>
            <a:off x="4436428" y="3541395"/>
            <a:ext cx="3474720" cy="2616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0A2942"/>
                </a:solidFill>
              </a:rPr>
              <a:t>CALLED_NUMBER</a:t>
            </a:r>
          </a:p>
        </p:txBody>
      </p:sp>
      <p:sp>
        <p:nvSpPr>
          <p:cNvPr id="28" name="Rectangle 27"/>
          <p:cNvSpPr/>
          <p:nvPr/>
        </p:nvSpPr>
        <p:spPr>
          <a:xfrm>
            <a:off x="4299269" y="3843147"/>
            <a:ext cx="3749039" cy="594360"/>
          </a:xfrm>
          <a:prstGeom prst="rect">
            <a:avLst/>
          </a:prstGeom>
          <a:solidFill>
            <a:srgbClr val="0A29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TextBox 28"/>
          <p:cNvSpPr txBox="1"/>
          <p:nvPr/>
        </p:nvSpPr>
        <p:spPr>
          <a:xfrm>
            <a:off x="4436428" y="3879723"/>
            <a:ext cx="3474720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>
                <a:solidFill>
                  <a:srgbClr val="F0F4F8"/>
                </a:solidFill>
              </a:rPr>
              <a:t>91XX ******** XX
(non-admin roles)</a:t>
            </a:r>
          </a:p>
        </p:txBody>
      </p:sp>
      <p:sp>
        <p:nvSpPr>
          <p:cNvPr id="30" name="Rectangle 29"/>
          <p:cNvSpPr/>
          <p:nvPr/>
        </p:nvSpPr>
        <p:spPr>
          <a:xfrm>
            <a:off x="4299269" y="4528947"/>
            <a:ext cx="3749039" cy="320040"/>
          </a:xfrm>
          <a:prstGeom prst="rect">
            <a:avLst/>
          </a:prstGeom>
          <a:solidFill>
            <a:srgbClr val="008B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1" name="TextBox 30"/>
          <p:cNvSpPr txBox="1"/>
          <p:nvPr/>
        </p:nvSpPr>
        <p:spPr>
          <a:xfrm>
            <a:off x="4436428" y="4547235"/>
            <a:ext cx="3474720" cy="2616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0A2942"/>
                </a:solidFill>
              </a:rPr>
              <a:t>CHARGE_AMOUNT</a:t>
            </a:r>
          </a:p>
        </p:txBody>
      </p:sp>
      <p:sp>
        <p:nvSpPr>
          <p:cNvPr id="32" name="Rectangle 31"/>
          <p:cNvSpPr/>
          <p:nvPr/>
        </p:nvSpPr>
        <p:spPr>
          <a:xfrm>
            <a:off x="4299269" y="4848987"/>
            <a:ext cx="3749039" cy="594360"/>
          </a:xfrm>
          <a:prstGeom prst="rect">
            <a:avLst/>
          </a:prstGeom>
          <a:solidFill>
            <a:srgbClr val="0A29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3" name="TextBox 32"/>
          <p:cNvSpPr txBox="1"/>
          <p:nvPr/>
        </p:nvSpPr>
        <p:spPr>
          <a:xfrm>
            <a:off x="4436428" y="4885563"/>
            <a:ext cx="3474720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>
                <a:solidFill>
                  <a:srgbClr val="F0F4F8"/>
                </a:solidFill>
              </a:rPr>
              <a:t>Returns NULL
(non-admin roles)</a:t>
            </a:r>
          </a:p>
        </p:txBody>
      </p:sp>
      <p:sp>
        <p:nvSpPr>
          <p:cNvPr id="34" name="Rectangle 33"/>
          <p:cNvSpPr/>
          <p:nvPr/>
        </p:nvSpPr>
        <p:spPr>
          <a:xfrm>
            <a:off x="8322628" y="1722119"/>
            <a:ext cx="3657600" cy="433745"/>
          </a:xfrm>
          <a:prstGeom prst="rect">
            <a:avLst/>
          </a:prstGeom>
          <a:solidFill>
            <a:srgbClr val="F5A6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5" name="TextBox 34"/>
          <p:cNvSpPr txBox="1"/>
          <p:nvPr/>
        </p:nvSpPr>
        <p:spPr>
          <a:xfrm>
            <a:off x="8322629" y="1772455"/>
            <a:ext cx="3383280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dirty="0">
                <a:solidFill>
                  <a:srgbClr val="0A2942"/>
                </a:solidFill>
              </a:rPr>
              <a:t>📋  GOVERNANCE</a:t>
            </a:r>
          </a:p>
        </p:txBody>
      </p:sp>
      <p:sp>
        <p:nvSpPr>
          <p:cNvPr id="36" name="Rectangle 35"/>
          <p:cNvSpPr/>
          <p:nvPr/>
        </p:nvSpPr>
        <p:spPr>
          <a:xfrm>
            <a:off x="8322628" y="2496312"/>
            <a:ext cx="3657600" cy="320040"/>
          </a:xfrm>
          <a:prstGeom prst="rect">
            <a:avLst/>
          </a:prstGeom>
          <a:solidFill>
            <a:srgbClr val="F5A6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7" name="TextBox 36"/>
          <p:cNvSpPr txBox="1"/>
          <p:nvPr/>
        </p:nvSpPr>
        <p:spPr>
          <a:xfrm>
            <a:off x="8459788" y="2514600"/>
            <a:ext cx="3383280" cy="2616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0A2942"/>
                </a:solidFill>
              </a:rPr>
              <a:t>Row Access Policy</a:t>
            </a:r>
          </a:p>
        </p:txBody>
      </p:sp>
      <p:sp>
        <p:nvSpPr>
          <p:cNvPr id="38" name="Rectangle 37"/>
          <p:cNvSpPr/>
          <p:nvPr/>
        </p:nvSpPr>
        <p:spPr>
          <a:xfrm>
            <a:off x="8322628" y="2816352"/>
            <a:ext cx="3657600" cy="594360"/>
          </a:xfrm>
          <a:prstGeom prst="rect">
            <a:avLst/>
          </a:prstGeom>
          <a:solidFill>
            <a:srgbClr val="0A29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9" name="TextBox 38"/>
          <p:cNvSpPr txBox="1"/>
          <p:nvPr/>
        </p:nvSpPr>
        <p:spPr>
          <a:xfrm>
            <a:off x="8459788" y="2852928"/>
            <a:ext cx="3383280" cy="55399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>
                <a:solidFill>
                  <a:srgbClr val="F0F4F8"/>
                </a:solidFill>
              </a:rPr>
              <a:t>CDR_ROW_ACCESS
Filters by NETWORK_TYPE
Role-based row visibility</a:t>
            </a:r>
          </a:p>
        </p:txBody>
      </p:sp>
      <p:sp>
        <p:nvSpPr>
          <p:cNvPr id="40" name="Rectangle 39"/>
          <p:cNvSpPr/>
          <p:nvPr/>
        </p:nvSpPr>
        <p:spPr>
          <a:xfrm>
            <a:off x="8322628" y="3502152"/>
            <a:ext cx="3657600" cy="320040"/>
          </a:xfrm>
          <a:prstGeom prst="rect">
            <a:avLst/>
          </a:prstGeom>
          <a:solidFill>
            <a:srgbClr val="F5A6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1" name="TextBox 40"/>
          <p:cNvSpPr txBox="1"/>
          <p:nvPr/>
        </p:nvSpPr>
        <p:spPr>
          <a:xfrm>
            <a:off x="8459788" y="3520440"/>
            <a:ext cx="3383280" cy="2616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0A2942"/>
                </a:solidFill>
              </a:rPr>
              <a:t>Data Tags</a:t>
            </a:r>
          </a:p>
        </p:txBody>
      </p:sp>
      <p:sp>
        <p:nvSpPr>
          <p:cNvPr id="42" name="Rectangle 41"/>
          <p:cNvSpPr/>
          <p:nvPr/>
        </p:nvSpPr>
        <p:spPr>
          <a:xfrm>
            <a:off x="8322628" y="3822192"/>
            <a:ext cx="3657600" cy="594360"/>
          </a:xfrm>
          <a:prstGeom prst="rect">
            <a:avLst/>
          </a:prstGeom>
          <a:solidFill>
            <a:srgbClr val="0A29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3" name="TextBox 42"/>
          <p:cNvSpPr txBox="1"/>
          <p:nvPr/>
        </p:nvSpPr>
        <p:spPr>
          <a:xfrm>
            <a:off x="8459788" y="3858768"/>
            <a:ext cx="3383280" cy="55399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>
                <a:solidFill>
                  <a:srgbClr val="F0F4F8"/>
                </a:solidFill>
              </a:rPr>
              <a:t>DATA_SENSITIVITY tag
CONFIDENTIAL / RESTRICTED
Applied to 4 columns</a:t>
            </a:r>
          </a:p>
        </p:txBody>
      </p:sp>
      <p:sp>
        <p:nvSpPr>
          <p:cNvPr id="44" name="Rectangle 43"/>
          <p:cNvSpPr/>
          <p:nvPr/>
        </p:nvSpPr>
        <p:spPr>
          <a:xfrm>
            <a:off x="8322628" y="4507992"/>
            <a:ext cx="3657600" cy="320040"/>
          </a:xfrm>
          <a:prstGeom prst="rect">
            <a:avLst/>
          </a:prstGeom>
          <a:solidFill>
            <a:srgbClr val="F5A6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5" name="TextBox 44"/>
          <p:cNvSpPr txBox="1"/>
          <p:nvPr/>
        </p:nvSpPr>
        <p:spPr>
          <a:xfrm>
            <a:off x="8459788" y="4526280"/>
            <a:ext cx="3383280" cy="2616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0A2942"/>
                </a:solidFill>
              </a:rPr>
              <a:t>Audit Log</a:t>
            </a:r>
          </a:p>
        </p:txBody>
      </p:sp>
      <p:sp>
        <p:nvSpPr>
          <p:cNvPr id="46" name="Rectangle 45"/>
          <p:cNvSpPr/>
          <p:nvPr/>
        </p:nvSpPr>
        <p:spPr>
          <a:xfrm>
            <a:off x="8322628" y="4828032"/>
            <a:ext cx="3657600" cy="594360"/>
          </a:xfrm>
          <a:prstGeom prst="rect">
            <a:avLst/>
          </a:prstGeom>
          <a:solidFill>
            <a:srgbClr val="0A29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7" name="TextBox 46"/>
          <p:cNvSpPr txBox="1"/>
          <p:nvPr/>
        </p:nvSpPr>
        <p:spPr>
          <a:xfrm>
            <a:off x="8459788" y="4864608"/>
            <a:ext cx="3383280" cy="55399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>
                <a:solidFill>
                  <a:srgbClr val="F0F4F8"/>
                </a:solidFill>
              </a:rPr>
              <a:t>AUDIT_LOG table
6 logged events
User/Role/Table/Action</a:t>
            </a:r>
          </a:p>
        </p:txBody>
      </p:sp>
      <p:sp>
        <p:nvSpPr>
          <p:cNvPr id="48" name="Rectangle 47"/>
          <p:cNvSpPr/>
          <p:nvPr/>
        </p:nvSpPr>
        <p:spPr>
          <a:xfrm>
            <a:off x="1588" y="6583680"/>
            <a:ext cx="12188952" cy="274320"/>
          </a:xfrm>
          <a:prstGeom prst="rect">
            <a:avLst/>
          </a:prstGeom>
          <a:solidFill>
            <a:srgbClr val="0A29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9" name="TextBox 48"/>
          <p:cNvSpPr txBox="1"/>
          <p:nvPr/>
        </p:nvSpPr>
        <p:spPr>
          <a:xfrm>
            <a:off x="458788" y="6601968"/>
            <a:ext cx="114300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>
                <a:solidFill>
                  <a:srgbClr val="A0B4C8"/>
                </a:solidFill>
              </a:rPr>
              <a:t>Chandan Sahoo  |  Wipro CDR Analytics Platform  |  February 2026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0253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1588" y="0"/>
            <a:ext cx="12188952" cy="1097280"/>
          </a:xfrm>
          <a:prstGeom prst="rect">
            <a:avLst/>
          </a:prstGeom>
          <a:solidFill>
            <a:srgbClr val="0A29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1588" y="1097280"/>
            <a:ext cx="12188952" cy="45720"/>
          </a:xfrm>
          <a:prstGeom prst="rect">
            <a:avLst/>
          </a:prstGeom>
          <a:solidFill>
            <a:srgbClr val="00C5C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458788" y="137160"/>
            <a:ext cx="10972800" cy="55399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>
                <a:solidFill>
                  <a:srgbClr val="FFFFFF"/>
                </a:solidFill>
              </a:rPr>
              <a:t>APACHE SPARK PIPELINE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8788" y="731521"/>
            <a:ext cx="10972800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i="1">
                <a:solidFill>
                  <a:srgbClr val="A0B4C8"/>
                </a:solidFill>
              </a:rPr>
              <a:t>Batch Processing  +  Real-time Streaming Simulation  |  PySpark 4.0</a:t>
            </a:r>
          </a:p>
        </p:txBody>
      </p:sp>
      <p:sp>
        <p:nvSpPr>
          <p:cNvPr id="6" name="Rectangle 5"/>
          <p:cNvSpPr/>
          <p:nvPr/>
        </p:nvSpPr>
        <p:spPr>
          <a:xfrm>
            <a:off x="367348" y="1280160"/>
            <a:ext cx="5486400" cy="365760"/>
          </a:xfrm>
          <a:prstGeom prst="rect">
            <a:avLst/>
          </a:prstGeom>
          <a:solidFill>
            <a:srgbClr val="8E44A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504508" y="1298448"/>
            <a:ext cx="5212080" cy="2923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FFFFFF"/>
                </a:solidFill>
              </a:rPr>
              <a:t>⚡  SPARK BATCH PROCESSING</a:t>
            </a:r>
          </a:p>
        </p:txBody>
      </p:sp>
      <p:sp>
        <p:nvSpPr>
          <p:cNvPr id="8" name="Rectangle 7"/>
          <p:cNvSpPr/>
          <p:nvPr/>
        </p:nvSpPr>
        <p:spPr>
          <a:xfrm>
            <a:off x="367348" y="1645920"/>
            <a:ext cx="5486400" cy="2944368"/>
          </a:xfrm>
          <a:prstGeom prst="rect">
            <a:avLst/>
          </a:prstGeom>
          <a:solidFill>
            <a:srgbClr val="0D3B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504508" y="1709928"/>
            <a:ext cx="5212080" cy="2616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>
                <a:solidFill>
                  <a:srgbClr val="F0F4F8"/>
                </a:solidFill>
              </a:rPr>
              <a:t>▸  Read 50,000 CDR records from Snowflake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04508" y="2185416"/>
            <a:ext cx="5212080" cy="2616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>
                <a:solidFill>
                  <a:srgbClr val="F0F4F8"/>
                </a:solidFill>
              </a:rPr>
              <a:t>▸  Revenue analysis by call type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04508" y="2660904"/>
            <a:ext cx="5212080" cy="2616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>
                <a:solidFill>
                  <a:srgbClr val="F0F4F8"/>
                </a:solidFill>
              </a:rPr>
              <a:t>▸  Top 10 customers by revenue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04508" y="3136392"/>
            <a:ext cx="5212080" cy="2616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>
                <a:solidFill>
                  <a:srgbClr val="F0F4F8"/>
                </a:solidFill>
              </a:rPr>
              <a:t>▸  Network performance aggregation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04508" y="3611880"/>
            <a:ext cx="5212080" cy="2616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>
                <a:solidFill>
                  <a:srgbClr val="F0F4F8"/>
                </a:solidFill>
              </a:rPr>
              <a:t>▸  Fraud rate calculation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04508" y="4087368"/>
            <a:ext cx="5212080" cy="2616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>
                <a:solidFill>
                  <a:srgbClr val="F0F4F8"/>
                </a:solidFill>
              </a:rPr>
              <a:t>▸  Drop rate by cell tower</a:t>
            </a:r>
          </a:p>
        </p:txBody>
      </p:sp>
      <p:sp>
        <p:nvSpPr>
          <p:cNvPr id="15" name="Rectangle 14"/>
          <p:cNvSpPr/>
          <p:nvPr/>
        </p:nvSpPr>
        <p:spPr>
          <a:xfrm>
            <a:off x="6402388" y="1280160"/>
            <a:ext cx="5486400" cy="365760"/>
          </a:xfrm>
          <a:prstGeom prst="rect">
            <a:avLst/>
          </a:prstGeom>
          <a:solidFill>
            <a:srgbClr val="0066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6539548" y="1298448"/>
            <a:ext cx="5212080" cy="2923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FFFFFF"/>
                </a:solidFill>
              </a:rPr>
              <a:t>📡  SPARK STREAMING SIMULATION</a:t>
            </a:r>
          </a:p>
        </p:txBody>
      </p:sp>
      <p:sp>
        <p:nvSpPr>
          <p:cNvPr id="17" name="Rectangle 16"/>
          <p:cNvSpPr/>
          <p:nvPr/>
        </p:nvSpPr>
        <p:spPr>
          <a:xfrm>
            <a:off x="6402388" y="1645920"/>
            <a:ext cx="5486400" cy="2944368"/>
          </a:xfrm>
          <a:prstGeom prst="rect">
            <a:avLst/>
          </a:prstGeom>
          <a:solidFill>
            <a:srgbClr val="0D3B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6539548" y="1709928"/>
            <a:ext cx="5212080" cy="2616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>
                <a:solidFill>
                  <a:srgbClr val="F0F4F8"/>
                </a:solidFill>
              </a:rPr>
              <a:t>▸  Real-time CDR generation in batches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539548" y="2185416"/>
            <a:ext cx="5212080" cy="2616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>
                <a:solidFill>
                  <a:srgbClr val="F0F4F8"/>
                </a:solidFill>
              </a:rPr>
              <a:t>▸  500ms micro-batch intervals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539548" y="2660904"/>
            <a:ext cx="5212080" cy="2616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>
                <a:solidFill>
                  <a:srgbClr val="F0F4F8"/>
                </a:solidFill>
              </a:rPr>
              <a:t>▸  Live fraud detection alerts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539548" y="3136392"/>
            <a:ext cx="5212080" cy="2616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>
                <a:solidFill>
                  <a:srgbClr val="F0F4F8"/>
                </a:solidFill>
              </a:rPr>
              <a:t>▸  Network drop rate monitoring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539548" y="3611880"/>
            <a:ext cx="5212080" cy="2616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>
                <a:solidFill>
                  <a:srgbClr val="F0F4F8"/>
                </a:solidFill>
              </a:rPr>
              <a:t>▸  10 micro-batches demonstrated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539548" y="4087368"/>
            <a:ext cx="5212080" cy="2616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>
                <a:solidFill>
                  <a:srgbClr val="F0F4F8"/>
                </a:solidFill>
              </a:rPr>
              <a:t>▸  Structured Streaming API</a:t>
            </a:r>
          </a:p>
        </p:txBody>
      </p:sp>
      <p:sp>
        <p:nvSpPr>
          <p:cNvPr id="24" name="Rectangle 23"/>
          <p:cNvSpPr/>
          <p:nvPr/>
        </p:nvSpPr>
        <p:spPr>
          <a:xfrm>
            <a:off x="367348" y="4892040"/>
            <a:ext cx="2743200" cy="1005840"/>
          </a:xfrm>
          <a:prstGeom prst="rect">
            <a:avLst/>
          </a:prstGeom>
          <a:solidFill>
            <a:srgbClr val="0D3B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Rectangle 24"/>
          <p:cNvSpPr/>
          <p:nvPr/>
        </p:nvSpPr>
        <p:spPr>
          <a:xfrm>
            <a:off x="367348" y="4892040"/>
            <a:ext cx="2743200" cy="36576"/>
          </a:xfrm>
          <a:prstGeom prst="rect">
            <a:avLst/>
          </a:prstGeom>
          <a:solidFill>
            <a:srgbClr val="8E44A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TextBox 25"/>
          <p:cNvSpPr txBox="1"/>
          <p:nvPr/>
        </p:nvSpPr>
        <p:spPr>
          <a:xfrm>
            <a:off x="367348" y="4956049"/>
            <a:ext cx="2743200" cy="43088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1">
                <a:solidFill>
                  <a:srgbClr val="F5A623"/>
                </a:solidFill>
              </a:rPr>
              <a:t>PySpark 4.0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367348" y="5458969"/>
            <a:ext cx="2743200" cy="24622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>
                <a:solidFill>
                  <a:srgbClr val="A0B4C8"/>
                </a:solidFill>
              </a:rPr>
              <a:t>Framework</a:t>
            </a:r>
          </a:p>
        </p:txBody>
      </p:sp>
      <p:sp>
        <p:nvSpPr>
          <p:cNvPr id="28" name="Rectangle 27"/>
          <p:cNvSpPr/>
          <p:nvPr/>
        </p:nvSpPr>
        <p:spPr>
          <a:xfrm>
            <a:off x="3339148" y="4892040"/>
            <a:ext cx="2743200" cy="1005840"/>
          </a:xfrm>
          <a:prstGeom prst="rect">
            <a:avLst/>
          </a:prstGeom>
          <a:solidFill>
            <a:srgbClr val="0D3B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Rectangle 28"/>
          <p:cNvSpPr/>
          <p:nvPr/>
        </p:nvSpPr>
        <p:spPr>
          <a:xfrm>
            <a:off x="3339148" y="4892040"/>
            <a:ext cx="2743200" cy="36576"/>
          </a:xfrm>
          <a:prstGeom prst="rect">
            <a:avLst/>
          </a:prstGeom>
          <a:solidFill>
            <a:srgbClr val="8E44A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0" name="TextBox 29"/>
          <p:cNvSpPr txBox="1"/>
          <p:nvPr/>
        </p:nvSpPr>
        <p:spPr>
          <a:xfrm>
            <a:off x="3339148" y="4956049"/>
            <a:ext cx="2743200" cy="43088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1">
                <a:solidFill>
                  <a:srgbClr val="F5A623"/>
                </a:solidFill>
              </a:rPr>
              <a:t>50,000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3339148" y="5458969"/>
            <a:ext cx="2743200" cy="24622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>
                <a:solidFill>
                  <a:srgbClr val="A0B4C8"/>
                </a:solidFill>
              </a:rPr>
              <a:t>Records</a:t>
            </a:r>
          </a:p>
        </p:txBody>
      </p:sp>
      <p:sp>
        <p:nvSpPr>
          <p:cNvPr id="32" name="Rectangle 31"/>
          <p:cNvSpPr/>
          <p:nvPr/>
        </p:nvSpPr>
        <p:spPr>
          <a:xfrm>
            <a:off x="6310948" y="4892040"/>
            <a:ext cx="2743200" cy="1005840"/>
          </a:xfrm>
          <a:prstGeom prst="rect">
            <a:avLst/>
          </a:prstGeom>
          <a:solidFill>
            <a:srgbClr val="0D3B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3" name="Rectangle 32"/>
          <p:cNvSpPr/>
          <p:nvPr/>
        </p:nvSpPr>
        <p:spPr>
          <a:xfrm>
            <a:off x="6310948" y="4892040"/>
            <a:ext cx="2743200" cy="36576"/>
          </a:xfrm>
          <a:prstGeom prst="rect">
            <a:avLst/>
          </a:prstGeom>
          <a:solidFill>
            <a:srgbClr val="8E44A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4" name="TextBox 33"/>
          <p:cNvSpPr txBox="1"/>
          <p:nvPr/>
        </p:nvSpPr>
        <p:spPr>
          <a:xfrm>
            <a:off x="6310948" y="4956049"/>
            <a:ext cx="2743200" cy="43088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1">
                <a:solidFill>
                  <a:srgbClr val="F5A623"/>
                </a:solidFill>
              </a:rPr>
              <a:t>10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6310948" y="5458969"/>
            <a:ext cx="2743200" cy="24622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>
                <a:solidFill>
                  <a:srgbClr val="A0B4C8"/>
                </a:solidFill>
              </a:rPr>
              <a:t>Micro-batches</a:t>
            </a:r>
          </a:p>
        </p:txBody>
      </p:sp>
      <p:sp>
        <p:nvSpPr>
          <p:cNvPr id="36" name="Rectangle 35"/>
          <p:cNvSpPr/>
          <p:nvPr/>
        </p:nvSpPr>
        <p:spPr>
          <a:xfrm>
            <a:off x="9282748" y="4892040"/>
            <a:ext cx="2743200" cy="1005840"/>
          </a:xfrm>
          <a:prstGeom prst="rect">
            <a:avLst/>
          </a:prstGeom>
          <a:solidFill>
            <a:srgbClr val="0D3B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7" name="Rectangle 36"/>
          <p:cNvSpPr/>
          <p:nvPr/>
        </p:nvSpPr>
        <p:spPr>
          <a:xfrm>
            <a:off x="9282748" y="4892040"/>
            <a:ext cx="2743200" cy="36576"/>
          </a:xfrm>
          <a:prstGeom prst="rect">
            <a:avLst/>
          </a:prstGeom>
          <a:solidFill>
            <a:srgbClr val="8E44A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8" name="TextBox 37"/>
          <p:cNvSpPr txBox="1"/>
          <p:nvPr/>
        </p:nvSpPr>
        <p:spPr>
          <a:xfrm>
            <a:off x="9282748" y="4956049"/>
            <a:ext cx="2743200" cy="43088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1">
                <a:solidFill>
                  <a:srgbClr val="F5A623"/>
                </a:solidFill>
              </a:rPr>
              <a:t>500ms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9282748" y="5458969"/>
            <a:ext cx="2743200" cy="24622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>
                <a:solidFill>
                  <a:srgbClr val="A0B4C8"/>
                </a:solidFill>
              </a:rPr>
              <a:t>Interval</a:t>
            </a:r>
          </a:p>
        </p:txBody>
      </p:sp>
      <p:sp>
        <p:nvSpPr>
          <p:cNvPr id="40" name="Rectangle 39"/>
          <p:cNvSpPr/>
          <p:nvPr/>
        </p:nvSpPr>
        <p:spPr>
          <a:xfrm>
            <a:off x="1588" y="6583680"/>
            <a:ext cx="12188952" cy="274320"/>
          </a:xfrm>
          <a:prstGeom prst="rect">
            <a:avLst/>
          </a:prstGeom>
          <a:solidFill>
            <a:srgbClr val="0A29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1" name="TextBox 40"/>
          <p:cNvSpPr txBox="1"/>
          <p:nvPr/>
        </p:nvSpPr>
        <p:spPr>
          <a:xfrm>
            <a:off x="458788" y="6601968"/>
            <a:ext cx="114300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>
                <a:solidFill>
                  <a:srgbClr val="A0B4C8"/>
                </a:solidFill>
              </a:rPr>
              <a:t>Chandan Sahoo  |  Wipro CDR Analytics Platform  |  February 2026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0253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1588" y="0"/>
            <a:ext cx="502920" cy="6858000"/>
          </a:xfrm>
          <a:prstGeom prst="rect">
            <a:avLst/>
          </a:prstGeom>
          <a:solidFill>
            <a:srgbClr val="061A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504508" y="0"/>
            <a:ext cx="64008" cy="6858000"/>
          </a:xfrm>
          <a:prstGeom prst="rect">
            <a:avLst/>
          </a:prstGeom>
          <a:solidFill>
            <a:srgbClr val="00C5C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568516" y="0"/>
            <a:ext cx="11622024" cy="54864"/>
          </a:xfrm>
          <a:prstGeom prst="rect">
            <a:avLst/>
          </a:prstGeom>
          <a:solidFill>
            <a:srgbClr val="00C5C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915988" y="365760"/>
            <a:ext cx="10515600" cy="6771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800" b="1">
                <a:solidFill>
                  <a:srgbClr val="FFFFFF"/>
                </a:solidFill>
              </a:rPr>
              <a:t>PROJECT COMPLETE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5988" y="1097281"/>
            <a:ext cx="10515600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i="1">
                <a:solidFill>
                  <a:srgbClr val="A0B4C8"/>
                </a:solidFill>
              </a:rPr>
              <a:t>All deliverables successfully completed</a:t>
            </a:r>
          </a:p>
        </p:txBody>
      </p:sp>
      <p:sp>
        <p:nvSpPr>
          <p:cNvPr id="7" name="Rectangle 6"/>
          <p:cNvSpPr/>
          <p:nvPr/>
        </p:nvSpPr>
        <p:spPr>
          <a:xfrm>
            <a:off x="915988" y="1554480"/>
            <a:ext cx="10515600" cy="4251960"/>
          </a:xfrm>
          <a:prstGeom prst="rect">
            <a:avLst/>
          </a:prstGeom>
          <a:solidFill>
            <a:srgbClr val="0D3B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ectangle 7"/>
          <p:cNvSpPr/>
          <p:nvPr/>
        </p:nvSpPr>
        <p:spPr>
          <a:xfrm>
            <a:off x="915988" y="1673352"/>
            <a:ext cx="54864" cy="347472"/>
          </a:xfrm>
          <a:prstGeom prst="rect">
            <a:avLst/>
          </a:prstGeom>
          <a:solidFill>
            <a:srgbClr val="27AE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1053148" y="1627632"/>
            <a:ext cx="3840480" cy="2616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F5A623"/>
                </a:solidFill>
              </a:rPr>
              <a:t>✅ Data Warehouse Design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893628" y="1627632"/>
            <a:ext cx="6400800" cy="2616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>
                <a:solidFill>
                  <a:srgbClr val="F0F4F8"/>
                </a:solidFill>
              </a:rPr>
              <a:t>Star Schema — FACT_CDR + 5 Dimension Tables — Snowflake</a:t>
            </a:r>
          </a:p>
        </p:txBody>
      </p:sp>
      <p:sp>
        <p:nvSpPr>
          <p:cNvPr id="11" name="Rectangle 10"/>
          <p:cNvSpPr/>
          <p:nvPr/>
        </p:nvSpPr>
        <p:spPr>
          <a:xfrm>
            <a:off x="915988" y="2130552"/>
            <a:ext cx="54864" cy="347472"/>
          </a:xfrm>
          <a:prstGeom prst="rect">
            <a:avLst/>
          </a:prstGeom>
          <a:solidFill>
            <a:srgbClr val="27AE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1053148" y="2084832"/>
            <a:ext cx="3840480" cy="2616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F5A623"/>
                </a:solidFill>
              </a:rPr>
              <a:t>✅ Advanced SQL Queries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893628" y="2084832"/>
            <a:ext cx="6400800" cy="2616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>
                <a:solidFill>
                  <a:srgbClr val="F0F4F8"/>
                </a:solidFill>
              </a:rPr>
              <a:t>5 Queries — CTEs, Window Functions, Rolling Averages</a:t>
            </a:r>
          </a:p>
        </p:txBody>
      </p:sp>
      <p:sp>
        <p:nvSpPr>
          <p:cNvPr id="14" name="Rectangle 13"/>
          <p:cNvSpPr/>
          <p:nvPr/>
        </p:nvSpPr>
        <p:spPr>
          <a:xfrm>
            <a:off x="915988" y="2587752"/>
            <a:ext cx="54864" cy="347472"/>
          </a:xfrm>
          <a:prstGeom prst="rect">
            <a:avLst/>
          </a:prstGeom>
          <a:solidFill>
            <a:srgbClr val="27AE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1053148" y="2542032"/>
            <a:ext cx="3840480" cy="2616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F5A623"/>
                </a:solidFill>
              </a:rPr>
              <a:t>✅ ETL Pipeline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893628" y="2542032"/>
            <a:ext cx="6400800" cy="2616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>
                <a:solidFill>
                  <a:srgbClr val="F0F4F8"/>
                </a:solidFill>
              </a:rPr>
              <a:t>Python — 50,000 records — 0% data loss — 52 seconds</a:t>
            </a:r>
          </a:p>
        </p:txBody>
      </p:sp>
      <p:sp>
        <p:nvSpPr>
          <p:cNvPr id="17" name="Rectangle 16"/>
          <p:cNvSpPr/>
          <p:nvPr/>
        </p:nvSpPr>
        <p:spPr>
          <a:xfrm>
            <a:off x="915988" y="3044952"/>
            <a:ext cx="54864" cy="347472"/>
          </a:xfrm>
          <a:prstGeom prst="rect">
            <a:avLst/>
          </a:prstGeom>
          <a:solidFill>
            <a:srgbClr val="27AE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1053148" y="2999232"/>
            <a:ext cx="3840480" cy="2616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F5A623"/>
                </a:solidFill>
              </a:rPr>
              <a:t>✅ Apache Spark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893628" y="2999232"/>
            <a:ext cx="6400800" cy="2616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>
                <a:solidFill>
                  <a:srgbClr val="F0F4F8"/>
                </a:solidFill>
              </a:rPr>
              <a:t>Batch Processing + Real-time Streaming — PySpark 4.0</a:t>
            </a:r>
          </a:p>
        </p:txBody>
      </p:sp>
      <p:sp>
        <p:nvSpPr>
          <p:cNvPr id="20" name="Rectangle 19"/>
          <p:cNvSpPr/>
          <p:nvPr/>
        </p:nvSpPr>
        <p:spPr>
          <a:xfrm>
            <a:off x="915988" y="3502152"/>
            <a:ext cx="54864" cy="347472"/>
          </a:xfrm>
          <a:prstGeom prst="rect">
            <a:avLst/>
          </a:prstGeom>
          <a:solidFill>
            <a:srgbClr val="27AE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1053148" y="3456432"/>
            <a:ext cx="3840480" cy="2616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F5A623"/>
                </a:solidFill>
              </a:rPr>
              <a:t>✅ Snowflake Optimization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893628" y="3456432"/>
            <a:ext cx="6400800" cy="2616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>
                <a:solidFill>
                  <a:srgbClr val="F0F4F8"/>
                </a:solidFill>
              </a:rPr>
              <a:t>Clustering Keys + Time Travel + Semi-Structured JSON</a:t>
            </a:r>
          </a:p>
        </p:txBody>
      </p:sp>
      <p:sp>
        <p:nvSpPr>
          <p:cNvPr id="23" name="Rectangle 22"/>
          <p:cNvSpPr/>
          <p:nvPr/>
        </p:nvSpPr>
        <p:spPr>
          <a:xfrm>
            <a:off x="915988" y="3959352"/>
            <a:ext cx="54864" cy="347472"/>
          </a:xfrm>
          <a:prstGeom prst="rect">
            <a:avLst/>
          </a:prstGeom>
          <a:solidFill>
            <a:srgbClr val="27AE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TextBox 23"/>
          <p:cNvSpPr txBox="1"/>
          <p:nvPr/>
        </p:nvSpPr>
        <p:spPr>
          <a:xfrm>
            <a:off x="1053148" y="3913632"/>
            <a:ext cx="3840480" cy="2616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F5A623"/>
                </a:solidFill>
              </a:rPr>
              <a:t>✅ Security &amp; Governance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4893628" y="3913632"/>
            <a:ext cx="6400800" cy="2616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>
                <a:solidFill>
                  <a:srgbClr val="F0F4F8"/>
                </a:solidFill>
              </a:rPr>
              <a:t>RBAC + Data Masking + Row Policy + Audit Log</a:t>
            </a:r>
          </a:p>
        </p:txBody>
      </p:sp>
      <p:sp>
        <p:nvSpPr>
          <p:cNvPr id="26" name="Rectangle 25"/>
          <p:cNvSpPr/>
          <p:nvPr/>
        </p:nvSpPr>
        <p:spPr>
          <a:xfrm>
            <a:off x="915988" y="4416552"/>
            <a:ext cx="54864" cy="347472"/>
          </a:xfrm>
          <a:prstGeom prst="rect">
            <a:avLst/>
          </a:prstGeom>
          <a:solidFill>
            <a:srgbClr val="27AE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TextBox 26"/>
          <p:cNvSpPr txBox="1"/>
          <p:nvPr/>
        </p:nvSpPr>
        <p:spPr>
          <a:xfrm>
            <a:off x="1053148" y="4370832"/>
            <a:ext cx="3840480" cy="2616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F5A623"/>
                </a:solidFill>
              </a:rPr>
              <a:t>✅ Performance Tuning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4893628" y="4370832"/>
            <a:ext cx="6400800" cy="2616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>
                <a:solidFill>
                  <a:srgbClr val="F0F4F8"/>
                </a:solidFill>
              </a:rPr>
              <a:t>3 Secure Views + Query Optimization</a:t>
            </a:r>
          </a:p>
        </p:txBody>
      </p:sp>
      <p:sp>
        <p:nvSpPr>
          <p:cNvPr id="29" name="Rectangle 28"/>
          <p:cNvSpPr/>
          <p:nvPr/>
        </p:nvSpPr>
        <p:spPr>
          <a:xfrm>
            <a:off x="915988" y="4873752"/>
            <a:ext cx="54864" cy="347472"/>
          </a:xfrm>
          <a:prstGeom prst="rect">
            <a:avLst/>
          </a:prstGeom>
          <a:solidFill>
            <a:srgbClr val="27AE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0" name="TextBox 29"/>
          <p:cNvSpPr txBox="1"/>
          <p:nvPr/>
        </p:nvSpPr>
        <p:spPr>
          <a:xfrm>
            <a:off x="1053148" y="4828032"/>
            <a:ext cx="3840480" cy="2616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F5A623"/>
                </a:solidFill>
              </a:rPr>
              <a:t>✅ Tableau Dashboard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4893628" y="4828032"/>
            <a:ext cx="6400800" cy="2616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>
                <a:solidFill>
                  <a:srgbClr val="F0F4F8"/>
                </a:solidFill>
              </a:rPr>
              <a:t>7 Interactive Charts — Revenue, Fraud, Network Analysis</a:t>
            </a:r>
          </a:p>
        </p:txBody>
      </p:sp>
      <p:sp>
        <p:nvSpPr>
          <p:cNvPr id="32" name="Rectangle 31"/>
          <p:cNvSpPr/>
          <p:nvPr/>
        </p:nvSpPr>
        <p:spPr>
          <a:xfrm>
            <a:off x="915988" y="5330952"/>
            <a:ext cx="54864" cy="347472"/>
          </a:xfrm>
          <a:prstGeom prst="rect">
            <a:avLst/>
          </a:prstGeom>
          <a:solidFill>
            <a:srgbClr val="27AE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3" name="TextBox 32"/>
          <p:cNvSpPr txBox="1"/>
          <p:nvPr/>
        </p:nvSpPr>
        <p:spPr>
          <a:xfrm>
            <a:off x="1053148" y="5285232"/>
            <a:ext cx="3840480" cy="2616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F5A623"/>
                </a:solidFill>
              </a:rPr>
              <a:t>✅ GitHub Repository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4893628" y="5285232"/>
            <a:ext cx="6400800" cy="2616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>
                <a:solidFill>
                  <a:srgbClr val="F0F4F8"/>
                </a:solidFill>
              </a:rPr>
              <a:t>Complete codebase, README, SQL, Architecture Diagram</a:t>
            </a:r>
          </a:p>
        </p:txBody>
      </p:sp>
      <p:sp>
        <p:nvSpPr>
          <p:cNvPr id="35" name="Rectangle 34"/>
          <p:cNvSpPr/>
          <p:nvPr/>
        </p:nvSpPr>
        <p:spPr>
          <a:xfrm>
            <a:off x="1588" y="6583680"/>
            <a:ext cx="12188952" cy="274320"/>
          </a:xfrm>
          <a:prstGeom prst="rect">
            <a:avLst/>
          </a:prstGeom>
          <a:solidFill>
            <a:srgbClr val="0A29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6" name="TextBox 35"/>
          <p:cNvSpPr txBox="1"/>
          <p:nvPr/>
        </p:nvSpPr>
        <p:spPr>
          <a:xfrm>
            <a:off x="458788" y="6601968"/>
            <a:ext cx="114300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>
                <a:solidFill>
                  <a:srgbClr val="A0B4C8"/>
                </a:solidFill>
              </a:rPr>
              <a:t>Chandan Sahoo  |  Wipro CDR Analytics Platform  |  February 2026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21</TotalTime>
  <Words>1281</Words>
  <Application>Microsoft Office PowerPoint</Application>
  <PresentationFormat>Widescreen</PresentationFormat>
  <Paragraphs>274</Paragraphs>
  <Slides>10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4" baseType="lpstr">
      <vt:lpstr>Arial</vt:lpstr>
      <vt:lpstr>Calibri</vt:lpstr>
      <vt:lpstr>Calibri Light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Chandan Sahoo</dc:creator>
  <cp:lastModifiedBy>Chandan Sahoo</cp:lastModifiedBy>
  <cp:revision>3</cp:revision>
  <dcterms:created xsi:type="dcterms:W3CDTF">2026-02-23T08:13:13Z</dcterms:created>
  <dcterms:modified xsi:type="dcterms:W3CDTF">2026-02-23T08:37:09Z</dcterms:modified>
  <cp:contentStatus>Final</cp:contentStatus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_MarkAsFinal">
    <vt:bool>true</vt:bool>
  </property>
</Properties>
</file>